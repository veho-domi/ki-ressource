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007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7936" y="1651695"/>
            <a:ext cx="616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Persönlichkeitspsychologie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psychologische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07045" y="3267075"/>
            <a:ext cx="31299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WPF Psychologie und Philosophie • Themenblock 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670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4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do it ourselves!</a:t>
            </a:r>
            <a:endParaRPr lang="en-US" sz="4000" dirty="0"/>
          </a:p>
        </p:txBody>
      </p:sp>
      <p:pic>
        <p:nvPicPr>
          <p:cNvPr id="3" name="Image 0" descr="/tmp/rasterized-gradient-c0571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57250"/>
            <a:ext cx="4133850" cy="361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5300" y="2419275"/>
            <a:ext cx="382790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Personalities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95300" y="3051646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weltweit beliebteste Persönlichkeitstest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5300" y="3497386"/>
            <a:ext cx="3752850" cy="375196"/>
          </a:xfrm>
          <a:prstGeom prst="roundRect">
            <a:avLst>
              <a:gd name="adj" fmla="val 1523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09600" y="361168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www.16personalities.com/de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5300" y="4009515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ca. 10-12 Minuten</a:t>
            </a:r>
            <a:endParaRPr lang="en-US" sz="1050" dirty="0"/>
          </a:p>
        </p:txBody>
      </p:sp>
      <p:pic>
        <p:nvPicPr>
          <p:cNvPr id="10" name="Image 1" descr="/tmp/rasterized-gradient-329b17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50" y="857250"/>
            <a:ext cx="4133850" cy="3619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87142" y="2398439"/>
            <a:ext cx="382790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Hogwarts Sorting Hat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4887142" y="3030810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welches Haus gehörst du?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87142" y="3476550"/>
            <a:ext cx="3752850" cy="375196"/>
          </a:xfrm>
          <a:prstGeom prst="roundRect">
            <a:avLst>
              <a:gd name="adj" fmla="val 1523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003727" y="3590850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www.wizardingworld.com/sorting-hat-experience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87142" y="4099396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ca. 5 Minuten</a:t>
            </a:r>
            <a:endParaRPr lang="en-US" sz="1050" dirty="0"/>
          </a:p>
        </p:txBody>
      </p:sp>
      <p:pic>
        <p:nvPicPr>
          <p:cNvPr id="19" name="Grafik 18" descr="Ein Bild, das Darstellung, Animierter Cartoon, Cartoon, Animation enthält.&#10;&#10;KI-generierte Inhalte können fehlerhaft sein.">
            <a:extLst>
              <a:ext uri="{FF2B5EF4-FFF2-40B4-BE49-F238E27FC236}">
                <a16:creationId xmlns:a16="http://schemas.microsoft.com/office/drawing/2014/main" id="{720F9EE2-91B9-4B59-71EE-42BFA748E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446" y="857251"/>
            <a:ext cx="2293928" cy="1447724"/>
          </a:xfrm>
          <a:prstGeom prst="rect">
            <a:avLst/>
          </a:prstGeom>
        </p:spPr>
      </p:pic>
      <p:pic>
        <p:nvPicPr>
          <p:cNvPr id="22" name="Grafik 21" descr="Ein Bild, das Kunst, Cartoon, Screenshot, Schädel enthält.&#10;&#10;KI-generierte Inhalte können fehlerhaft sein.">
            <a:extLst>
              <a:ext uri="{FF2B5EF4-FFF2-40B4-BE49-F238E27FC236}">
                <a16:creationId xmlns:a16="http://schemas.microsoft.com/office/drawing/2014/main" id="{60EB8E5E-6F76-9578-539C-6CF63B866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4886" y="853182"/>
            <a:ext cx="2637749" cy="1478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433240"/>
            <a:ext cx="77179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Die drei Hauptgütekriterien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4800" y="878087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Definition gehört zu welchem </a:t>
            </a:r>
            <a:r>
              <a:rPr lang="en-US" sz="1600" dirty="0" err="1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Kriterium</a:t>
            </a: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" y="1356271"/>
            <a:ext cx="2755850" cy="495300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59588" y="1520484"/>
            <a:ext cx="1511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3151" y="1534812"/>
            <a:ext cx="68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4161" y="1517303"/>
            <a:ext cx="1651843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Objektivität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94000" y="1356271"/>
            <a:ext cx="2755850" cy="495300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46400" y="1514115"/>
            <a:ext cx="140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05081" y="1523851"/>
            <a:ext cx="68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29055" y="1517154"/>
            <a:ext cx="1559953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Reliabilität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3201" y="1367157"/>
            <a:ext cx="2755850" cy="495300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57528" y="1556296"/>
            <a:ext cx="197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3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 flipH="1">
            <a:off x="6488009" y="1550491"/>
            <a:ext cx="129641" cy="13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8863" y="1506268"/>
            <a:ext cx="1380976" cy="21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Validität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4800" y="2003971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22199" y="209922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 flipH="1">
            <a:off x="518778" y="2166119"/>
            <a:ext cx="226552" cy="26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3450" y="2156370"/>
            <a:ext cx="773430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misst tatsächlich das, was er zu messen vorgibt – und kann reales Verhalten vorhersagen.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4800" y="2746921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76250" y="289932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94717" y="29374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3450" y="2899321"/>
            <a:ext cx="76158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Testergebnis hängt nicht davon ab, wer den Test durchführt, auswertet oder interpretiert.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4800" y="3489871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476250" y="364227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94717" y="3680371"/>
            <a:ext cx="2244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33450" y="3642271"/>
            <a:ext cx="7734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liefert bei Wiederholung konsistente Ergebnisse – er misst genau und zuverlässig.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304" y="373201"/>
            <a:ext cx="7595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Objektivität – drei Unterformen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16101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Beschreibungen der richtigen Unterform zu!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" y="1295400"/>
            <a:ext cx="2781300" cy="597991"/>
          </a:xfrm>
          <a:prstGeom prst="roundRect">
            <a:avLst>
              <a:gd name="adj" fmla="val 12743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9100" y="1371600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9100" y="1670596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Durchführungsobjektivität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81350" y="1295400"/>
            <a:ext cx="2781300" cy="597991"/>
          </a:xfrm>
          <a:prstGeom prst="roundRect">
            <a:avLst>
              <a:gd name="adj" fmla="val 12743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5650" y="1371600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5650" y="1670596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Auswertungsobjektivität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57900" y="1295400"/>
            <a:ext cx="2781300" cy="597991"/>
          </a:xfrm>
          <a:prstGeom prst="roundRect">
            <a:avLst>
              <a:gd name="adj" fmla="val 12743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72200" y="1371600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670596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Interpretationsobjektivität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800" y="2045791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6250" y="219819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94717" y="223629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3450" y="2198191"/>
            <a:ext cx="52475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Testpersonen erhalten exakt dieselben Instruktionen, Zeitvorgaben und Testbedingungen.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4800" y="2788741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6250" y="294114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94717" y="297924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3450" y="2941141"/>
            <a:ext cx="68078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Verschiedene Fachleute kommen bei denselben Testwerten zum selben inhaltlichen Schluss – es gibt klare Normtabellen.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4800" y="3531691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76250" y="368409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94717" y="372219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3450" y="3684091"/>
            <a:ext cx="75824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Auswertung folgt festen, eindeutigen Regeln ohne Interpretationsspielraum – z.B. durch Multiple-Choice oder Computerauswertung.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Objektivität = Unabhängigkeit vom Untersucher (WER führt durch / wertet aus / interpretiert)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599182"/>
            <a:ext cx="75605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Reliabilität – zwei Unterformen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11953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Beschreibungen der richtigen Unterform zu!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" y="1472654"/>
            <a:ext cx="4181475" cy="700980"/>
          </a:xfrm>
          <a:prstGeom prst="roundRect">
            <a:avLst>
              <a:gd name="adj" fmla="val 10870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86954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9934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Test-Retest-Reliabilität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57725" y="1472654"/>
            <a:ext cx="4181475" cy="700980"/>
          </a:xfrm>
          <a:prstGeom prst="roundRect">
            <a:avLst>
              <a:gd name="adj" fmla="val 10870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10125" y="1586954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10125" y="189934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 Konsistenz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4800" y="2364135"/>
            <a:ext cx="8534400" cy="771376"/>
          </a:xfrm>
          <a:prstGeom prst="roundRect">
            <a:avLst>
              <a:gd name="adj" fmla="val 9878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95300" y="253558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3767" y="257368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2500" y="2489001"/>
            <a:ext cx="75777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Person erhält bei Wiederholung des Tests (nach einigen Wochen) ein ähnliches Ergebnis.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2500" y="2952985"/>
            <a:ext cx="59606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Messung: Korrelation r zwischen zwei Testzeitpunkten (gut: r &gt; 0.80)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4800" y="3268861"/>
            <a:ext cx="8534400" cy="771376"/>
          </a:xfrm>
          <a:prstGeom prst="roundRect">
            <a:avLst>
              <a:gd name="adj" fmla="val 9878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95300" y="344031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3767" y="347841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2499" y="3337471"/>
            <a:ext cx="7842989" cy="44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Items, die dasselbe Konstrukt messen sollen, korrelieren miteinander – alle Fragen zur „Extraversion" werden ähnlich beantwortet.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2499" y="3792885"/>
            <a:ext cx="7842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Messung: Cronbachs Alpha α (gut: α &gt; 0.70)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Reliabilität = Zuverlässigkeit/Messgenauigkeit (WIE GENAU misst der Test?)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512490"/>
            <a:ext cx="8089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Validität – drei Unterformen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4800" y="836340"/>
            <a:ext cx="8705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Beschreibungen der richtigen Unterform zu!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04800" y="1423095"/>
            <a:ext cx="2781300" cy="57150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0050" y="149929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0050" y="178504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Inhaltsvalidität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81350" y="1423095"/>
            <a:ext cx="2781300" cy="57150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76600" y="149929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76600" y="178504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Kriteriumsvalidität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57900" y="1423095"/>
            <a:ext cx="2781300" cy="57150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9050">
            <a:solidFill>
              <a:srgbClr val="1A527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53150" y="149929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53150" y="178504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Konstruktvalidität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800" y="2108895"/>
            <a:ext cx="8534400" cy="757609"/>
          </a:xfrm>
          <a:prstGeom prst="roundRect">
            <a:avLst>
              <a:gd name="adj" fmla="val 1307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8150" y="2223195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28042" y="223272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200" y="2223195"/>
            <a:ext cx="7336536" cy="14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Test-Items decken das zu messende Konstrukt inhaltlich vollständig und repräsentativ ab.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297" y="2608958"/>
            <a:ext cx="7152894" cy="257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Bsp: Ein Angst-Test sollte körperliche, kognitive UND soziale Angst erfassen.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5655" y="2942704"/>
            <a:ext cx="8534400" cy="789087"/>
          </a:xfrm>
          <a:prstGeom prst="roundRect">
            <a:avLst>
              <a:gd name="adj" fmla="val 1307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30064" y="30832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18897" y="306652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9055" y="3168327"/>
            <a:ext cx="7867650" cy="22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sagt reales Verhalten oder Lebensergebnisse vorher (Vorhersagevalidität).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8399" y="3477147"/>
            <a:ext cx="552870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Bsp: Gewissenhaftigkeit korreliert mit Studiennoten (r ≈ 0.20-0.30).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1366" y="3878163"/>
            <a:ext cx="8534400" cy="789087"/>
          </a:xfrm>
          <a:prstGeom prst="roundRect">
            <a:avLst>
              <a:gd name="adj" fmla="val 13075"/>
            </a:avLst>
          </a:prstGeom>
          <a:solidFill>
            <a:srgbClr val="FEF9E7"/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57199" y="4077250"/>
            <a:ext cx="300079" cy="315385"/>
          </a:xfrm>
          <a:prstGeom prst="roundRect">
            <a:avLst>
              <a:gd name="adj" fmla="val 320000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59198" y="4077251"/>
            <a:ext cx="113505" cy="34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7250" y="4023866"/>
            <a:ext cx="7610094" cy="33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misst tatsächlich das theoretische Konstrukt – korreliert mit ähnlichen Tests (konvergent) und nicht mit unverwandten (diskriminant).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2297" y="4434608"/>
            <a:ext cx="7610094" cy="17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Bsp: Zwei Extraversions-Tests sollten hoch korrelieren; Extraversion sollte nicht mit IQ korrelieren.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Validität = Gültigkeit (Misst der Test WAS er zu messen vorgibt?) – das wichtigste Gütekriterium!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517625"/>
            <a:ext cx="7505700" cy="24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Arbeitsauftrag für die Ferien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4800" y="1107877"/>
            <a:ext cx="8534400" cy="1243757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3850" y="1107877"/>
            <a:ext cx="0" cy="1243757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Text 3"/>
          <p:cNvSpPr/>
          <p:nvPr/>
        </p:nvSpPr>
        <p:spPr>
          <a:xfrm>
            <a:off x="495300" y="1260277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 err="1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Recherchiert</a:t>
            </a:r>
            <a:r>
              <a:rPr lang="en-US" sz="10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folgende</a:t>
            </a:r>
            <a:r>
              <a:rPr lang="en-US" sz="10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</a:t>
            </a:r>
            <a:r>
              <a:rPr lang="en-US" sz="10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</a:t>
            </a:r>
            <a:r>
              <a:rPr lang="en-US" sz="10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5300" y="1509713"/>
            <a:ext cx="4010025" cy="727621"/>
          </a:xfrm>
          <a:prstGeom prst="roundRect">
            <a:avLst>
              <a:gd name="adj" fmla="val 10472"/>
            </a:avLst>
          </a:prstGeom>
          <a:solidFill>
            <a:srgbClr val="FFFFFF"/>
          </a:solidFill>
          <a:ln w="9525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9125" y="1652588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000" b="1" dirty="0" err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Populärwissenschaftlicher</a:t>
            </a: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9125" y="1837283"/>
            <a:ext cx="38376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Buzzfeed-Quiz, Enneagramm, Sternzeichen-Test, „Welcher Disney-Charakter bist du?"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76775" y="1574006"/>
            <a:ext cx="4010025" cy="599033"/>
          </a:xfrm>
          <a:prstGeom prst="roundRect">
            <a:avLst>
              <a:gd name="adj" fmla="val 12721"/>
            </a:avLst>
          </a:prstGeom>
          <a:solidFill>
            <a:srgbClr val="FFFFFF"/>
          </a:solidFill>
          <a:ln w="9525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0600" y="1640681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0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Wissenschaftlicher</a:t>
            </a: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Persönlichkeitstest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830139"/>
            <a:ext cx="3837622" cy="271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NEO-PI-R / NEO-FFI, HEXACO, FPI-R, 16 PF, oder ein anderer validierter Test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2465933"/>
            <a:ext cx="8534400" cy="1322040"/>
          </a:xfrm>
          <a:prstGeom prst="roundRect">
            <a:avLst>
              <a:gd name="adj" fmla="val 5764"/>
            </a:avLst>
          </a:prstGeom>
          <a:solidFill>
            <a:srgbClr val="EAF2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150" y="2599283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Leitfragen für </a:t>
            </a:r>
            <a:r>
              <a:rPr lang="en-US" sz="105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</a:t>
            </a: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Recherche: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150" y="2816423"/>
            <a:ext cx="40767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hat den Test entwickelt? Wann?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welcher Theorie basiert er?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ist er aufgebaut? (Items, Skalen)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9150" y="2816423"/>
            <a:ext cx="40767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Erfüllt er die Gütekriterien? (O-R-V)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wird er eingesetzt?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Notiert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2-3 Beispiel-Items!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8098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Abgrenzung verwandter Begriffe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52311" y="751676"/>
            <a:ext cx="731302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Definitionen dem richtigen Begriff zu: T = Temperament, C = Charakter, I = Identität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1613446"/>
            <a:ext cx="8686800" cy="64770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1950" y="17277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850678"/>
            <a:ext cx="6997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subjektive Selbstverständnis – die Antwort auf „Wer bin ich?". Umfasst Gruppenzugehörigkeiten, Werte und Lebensziele.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2356396"/>
            <a:ext cx="8686800" cy="64770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1950" y="247069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593628"/>
            <a:ext cx="59888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angeborenen, biologisch fundierten Grundlagen der Persönlichkeit. Zeigt sich bereits im Säuglingsalter.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3099346"/>
            <a:ext cx="8686800" cy="64770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950" y="32136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3336578"/>
            <a:ext cx="52747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Älterer Begriff mit moralischer Konnotation. Bezieht sich auf Wertvorstellungen und Haltungen.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577804"/>
            <a:ext cx="8686800" cy="337096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47650" y="4577804"/>
            <a:ext cx="0" cy="33709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5" name="Text 13"/>
          <p:cNvSpPr/>
          <p:nvPr/>
        </p:nvSpPr>
        <p:spPr>
          <a:xfrm>
            <a:off x="381000" y="4673054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</a:t>
            </a: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Überlege, welcher Begriff eine Wertung impliziert, welcher biologisch fundiert ist und welcher subjektiv erlebt wird.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24" y="350008"/>
            <a:ext cx="10711962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Abgrenzung verwandter Begriffe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88295" y="1076357"/>
            <a:ext cx="17351006" cy="1002902"/>
          </a:xfrm>
          <a:prstGeom prst="roundRect">
            <a:avLst>
              <a:gd name="adj" fmla="val 103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2108" y="1076357"/>
            <a:ext cx="0" cy="1002902"/>
          </a:xfrm>
          <a:prstGeom prst="line">
            <a:avLst/>
          </a:prstGeom>
          <a:noFill/>
          <a:ln w="4762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5" name="Text 3"/>
          <p:cNvSpPr/>
          <p:nvPr/>
        </p:nvSpPr>
        <p:spPr>
          <a:xfrm>
            <a:off x="409575" y="1343030"/>
            <a:ext cx="837110" cy="568816"/>
          </a:xfrm>
          <a:prstGeom prst="roundRect">
            <a:avLst>
              <a:gd name="adj" fmla="val 13636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88744" y="1436284"/>
            <a:ext cx="6501222" cy="23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Identität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8744" y="1638086"/>
            <a:ext cx="6501222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subjektive Selbstverständnis – die Antwort auf „Wer bin ich?"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8744" y="1827513"/>
            <a:ext cx="650122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Persönlichkeit kann von außen beobachtet werden; Identität ist subjektiv.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4590" y="2052103"/>
            <a:ext cx="17351006" cy="1002902"/>
          </a:xfrm>
          <a:prstGeom prst="roundRect">
            <a:avLst>
              <a:gd name="adj" fmla="val 103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12108" y="2042914"/>
            <a:ext cx="0" cy="1002902"/>
          </a:xfrm>
          <a:prstGeom prst="line">
            <a:avLst/>
          </a:prstGeom>
          <a:noFill/>
          <a:ln w="4762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1" name="Text 9"/>
          <p:cNvSpPr/>
          <p:nvPr/>
        </p:nvSpPr>
        <p:spPr>
          <a:xfrm>
            <a:off x="409575" y="2177212"/>
            <a:ext cx="837110" cy="568816"/>
          </a:xfrm>
          <a:prstGeom prst="roundRect">
            <a:avLst>
              <a:gd name="adj" fmla="val 13636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88745" y="2270465"/>
            <a:ext cx="6704982" cy="23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88745" y="2472267"/>
            <a:ext cx="6704982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angeborenen, biologisch fundierten Grundlagen der Persönlichkeit.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8745" y="2661695"/>
            <a:ext cx="670498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Temperament ist das biologische „Rohmaterial" für Persönlichkeit.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295" y="2804998"/>
            <a:ext cx="17351006" cy="1002902"/>
          </a:xfrm>
          <a:prstGeom prst="roundRect">
            <a:avLst>
              <a:gd name="adj" fmla="val 103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12108" y="2744720"/>
            <a:ext cx="0" cy="1002902"/>
          </a:xfrm>
          <a:prstGeom prst="line">
            <a:avLst/>
          </a:prstGeom>
          <a:noFill/>
          <a:ln w="4762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7" name="Text 15"/>
          <p:cNvSpPr/>
          <p:nvPr/>
        </p:nvSpPr>
        <p:spPr>
          <a:xfrm>
            <a:off x="409575" y="3011393"/>
            <a:ext cx="837110" cy="568816"/>
          </a:xfrm>
          <a:prstGeom prst="roundRect">
            <a:avLst>
              <a:gd name="adj" fmla="val 13636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88745" y="3104647"/>
            <a:ext cx="7466960" cy="23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Charakter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8745" y="3306449"/>
            <a:ext cx="7466960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Älterer Begriff mit moralischer Konnotation. Bezieht sich auf Wertvorstellungen.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8745" y="3495877"/>
            <a:ext cx="746696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„Charakter" impliziert eine Bewertung, „Persönlichkeit" ist wertneutral.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295" y="4438948"/>
            <a:ext cx="17351006" cy="483373"/>
          </a:xfrm>
          <a:prstGeom prst="roundRect">
            <a:avLst>
              <a:gd name="adj" fmla="val 16047"/>
            </a:avLst>
          </a:prstGeom>
          <a:solidFill>
            <a:srgbClr val="FFF3E0"/>
          </a:solidFill>
          <a:ln w="9525">
            <a:solidFill>
              <a:srgbClr val="E07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12120" y="4618581"/>
            <a:ext cx="17193476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„Persönlichkeit" ist der wissenschaftliche, wertneutrale Oberbegriff – die anderen Begriffe sind enger gefasst oder wertend.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7492637" cy="76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Probleme des MBTI / 16 Personalities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4583" y="1214362"/>
            <a:ext cx="7161711" cy="80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2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Erklärungen dem richtigen Problem zu!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66700" y="1671786"/>
            <a:ext cx="3688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6700" y="1900386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1950" y="1976586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Kategorisierung statt Dimensionen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700" y="2256532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1950" y="2332732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Geringe Test-Retest-Reliabilität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" y="2612678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1950" y="2688878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Fragwürdige Validität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700" y="2968823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1950" y="3045023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Keine wissenschaftliche Grundlage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700" y="3324969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1950" y="3401169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Barnum-Effekt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35475" y="1704975"/>
            <a:ext cx="4938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ERKLÄRUNGEN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35475" y="19335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049762" y="19335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8" name="Text 16"/>
          <p:cNvSpPr/>
          <p:nvPr/>
        </p:nvSpPr>
        <p:spPr>
          <a:xfrm>
            <a:off x="4159300" y="2009775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Bis zu 50% erhalten bei Wiederholung einen anderen Typ.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35475" y="22764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4049762" y="22764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21" name="Text 19"/>
          <p:cNvSpPr/>
          <p:nvPr/>
        </p:nvSpPr>
        <p:spPr>
          <a:xfrm>
            <a:off x="4159300" y="2306911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Typbeschreibungen sind so allgemein, dass sich fast jeder darin wiederfindet.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35475" y="26193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4049762" y="26193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24" name="Text 22"/>
          <p:cNvSpPr/>
          <p:nvPr/>
        </p:nvSpPr>
        <p:spPr>
          <a:xfrm>
            <a:off x="4159300" y="2649811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Menschen werden in Typen eingeteilt, obwohl Merkmale kontinuierlich verteilt sind.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35475" y="29622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4049762" y="29622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27" name="Text 25"/>
          <p:cNvSpPr/>
          <p:nvPr/>
        </p:nvSpPr>
        <p:spPr>
          <a:xfrm>
            <a:off x="4159300" y="2986240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Test basiert auf Jungs spekulativer Theorie, nicht auf Faktorenanalyse.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35475" y="33051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4049762" y="33051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30" name="Text 28"/>
          <p:cNvSpPr/>
          <p:nvPr/>
        </p:nvSpPr>
        <p:spPr>
          <a:xfrm>
            <a:off x="4159300" y="3381375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vier Dimensionen korrelieren nicht gut mit etablierten Modellen.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699" y="266699"/>
            <a:ext cx="7788729" cy="2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Probleme des MBTI / 16 Personalities</a:t>
            </a:r>
            <a:endParaRPr lang="en-US" sz="2400" dirty="0"/>
          </a:p>
        </p:txBody>
      </p:sp>
      <p:pic>
        <p:nvPicPr>
          <p:cNvPr id="3" name="Image 0" descr="/tmp/rasterized-gradient-8c71bd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90699"/>
            <a:ext cx="8610600" cy="377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6042" y="846908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C | 2 = A | 3 = E | 4 = D | 5 = B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66700" y="1864148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90525" y="184308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95325" y="1874491"/>
            <a:ext cx="17756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Kategorisierung statt Dimensionen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31418" y="1881187"/>
            <a:ext cx="627654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Menschen werden in Typen eingeteilt, obwohl Merkmale kontinuierlich verteilt sind.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6700" y="2273723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90525" y="225266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95325" y="228406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Geringe Test-Retest-Reliabilität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05075" y="2290762"/>
            <a:ext cx="441891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zu 50% erhalten bei Wiederholung einen anderen Typ!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6700" y="2683298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90525" y="266223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95325" y="2693641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Fragwürdige Validität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05074" y="2700337"/>
            <a:ext cx="606975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vier Dimensionen korrelieren nicht gut mit etablierten Modellen wie Big Five.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6700" y="3092873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90525" y="307181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95325" y="3103216"/>
            <a:ext cx="1799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wissenschaftliche Grundlage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54932" y="3109912"/>
            <a:ext cx="595242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Basiert auf Jungs spekulativer Theorie, nicht auf empirischer Faktorenanalyse.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6700" y="3502448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390525" y="348138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95325" y="3512791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Barnum-Effekt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05075" y="3519487"/>
            <a:ext cx="618145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Typbeschreibungen sind so allgemein, dass sich fast jeder darin wiederfindet.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66700" y="4572000"/>
            <a:ext cx="8610600" cy="304800"/>
          </a:xfrm>
          <a:prstGeom prst="roundRect">
            <a:avLst>
              <a:gd name="adj" fmla="val 15625"/>
            </a:avLst>
          </a:prstGeom>
          <a:solidFill>
            <a:srgbClr val="FFF3E0"/>
          </a:solidFill>
          <a:ln w="9525">
            <a:solidFill>
              <a:srgbClr val="E07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390525" y="4657725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 Personalities ist unterhaltsam, aber erfüllt nicht die wissenschaftlichen Gütekriterien!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7832271" cy="244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Wissenschaftlich vs. Populärwissenschaftlich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30003" y="817736"/>
            <a:ext cx="75601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zu: </a:t>
            </a:r>
            <a:r>
              <a:rPr lang="en-US" sz="10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= </a:t>
            </a:r>
            <a:r>
              <a:rPr lang="en-US" sz="10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Wissenschaftlich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= Populärwissenschaftlich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66700" y="112395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1000" y="120015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0100" y="1279178"/>
            <a:ext cx="7577976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Theoretische Basis: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Basiert auf empirisch überprüften Modellen (z.B. Big Five)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6700" y="163830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1000" y="17145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0100" y="1793528"/>
            <a:ext cx="4900374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 intuitiv oder kommerziell motiviert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6700" y="215265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1000" y="222885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00100" y="2307878"/>
            <a:ext cx="8062602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Objektivität, Reliabilität und Validität sind nachgewiesen und publiziert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6700" y="266700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1000" y="27432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0100" y="2822228"/>
            <a:ext cx="6691118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Ergebnisformat: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Kategoriale „Typen" mit pauschalen Beschreibungen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6700" y="318135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1000" y="325755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0100" y="3336578"/>
            <a:ext cx="6019817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wissenschaftlichen Fachzeitschriften publiziert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6700" y="369570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1000" y="37719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0100" y="3850928"/>
            <a:ext cx="5905500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„Black Box" – Auswertung nicht nachvollziehbar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55766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Wissenschaftlich vs. Populärwissenschaftlich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266700" y="1320254"/>
            <a:ext cx="4238625" cy="312390"/>
          </a:xfrm>
          <a:prstGeom prst="roundRect">
            <a:avLst>
              <a:gd name="adj" fmla="val 15245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900" y="1396454"/>
            <a:ext cx="4090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Wissenschaftlicher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6700" y="16707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80988" y="16707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90525" y="1737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Empirisch überprüft (z.B. Big Five)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6700" y="19755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0988" y="19755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90525" y="20422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Systematisch durch Faktorenanalyse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6700" y="22803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80988" y="22803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90525" y="23470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O-R-V nachgewiesen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6700" y="25851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80988" y="25851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90525" y="26518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Dimensionale Profile + Normen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6700" y="28899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0988" y="28899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390525" y="29566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Fachzeitschriften publiziert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6700" y="31947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80988" y="31947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90525" y="3261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Testmanual verfügbar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6700" y="3537645"/>
            <a:ext cx="4238625" cy="215205"/>
          </a:xfrm>
          <a:prstGeom prst="roundRect">
            <a:avLst>
              <a:gd name="adj" fmla="val 17704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1469" y="3585270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NEO-PI-R, HEXACO, FPI-R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38675" y="1320254"/>
            <a:ext cx="4238625" cy="312390"/>
          </a:xfrm>
          <a:prstGeom prst="roundRect">
            <a:avLst>
              <a:gd name="adj" fmla="val 15245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12875" y="1396454"/>
            <a:ext cx="4090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Populärwissenschaftlicher Test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38675" y="16707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52963" y="16707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762500" y="1737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 keine oder veraltete Grundlage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38675" y="19755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52963" y="19755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762500" y="20422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Intuitiv oder kommerziell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38675" y="22803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52963" y="22803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4762500" y="23470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Unbekannt oder mangelhaft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38675" y="25851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52963" y="25851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762500" y="26518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Kategoriale „Typen"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38675" y="28899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652963" y="28899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762500" y="29566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Keine unabhängige Prüfung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38675" y="31947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52963" y="31947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4762500" y="3261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„Black Box"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38675" y="3537645"/>
            <a:ext cx="4238625" cy="215205"/>
          </a:xfrm>
          <a:prstGeom prst="roundRect">
            <a:avLst>
              <a:gd name="adj" fmla="val 17704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693444" y="3585270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16 Personalities, Buzzfeed-Quiz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266700" y="4577804"/>
            <a:ext cx="8610600" cy="298996"/>
          </a:xfrm>
          <a:prstGeom prst="roundRect">
            <a:avLst>
              <a:gd name="adj" fmla="val 1592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97180" y="46540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</a:t>
            </a: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= W | 2 = P | 3 = W | 4 = P | 5 = W | 6 = P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1151</Words>
  <Application>Microsoft Macintosh PowerPoint</Application>
  <PresentationFormat>Bildschirmpräsentation (16:9)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Persönlichkeitspsychologie - Gütekriterien</dc:title>
  <dc:subject>PptxGenJS Presentation</dc:subject>
  <dc:creator>WPF Psychologie und Philosophie</dc:creator>
  <cp:lastModifiedBy>Orhan Vehabovic</cp:lastModifiedBy>
  <cp:revision>20</cp:revision>
  <dcterms:created xsi:type="dcterms:W3CDTF">2025-12-22T12:15:05Z</dcterms:created>
  <dcterms:modified xsi:type="dcterms:W3CDTF">2026-01-11T19:31:46Z</dcterms:modified>
</cp:coreProperties>
</file>