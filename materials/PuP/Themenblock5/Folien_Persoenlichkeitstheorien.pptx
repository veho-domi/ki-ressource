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66" r:id="rId4"/>
    <p:sldId id="258" r:id="rId5"/>
    <p:sldId id="267" r:id="rId6"/>
    <p:sldId id="268" r:id="rId7"/>
    <p:sldId id="269" r:id="rId8"/>
    <p:sldId id="270" r:id="rId9"/>
    <p:sldId id="290" r:id="rId10"/>
    <p:sldId id="264" r:id="rId11"/>
    <p:sldId id="259" r:id="rId12"/>
    <p:sldId id="272" r:id="rId13"/>
    <p:sldId id="271" r:id="rId14"/>
    <p:sldId id="260" r:id="rId15"/>
    <p:sldId id="273" r:id="rId16"/>
    <p:sldId id="274" r:id="rId17"/>
    <p:sldId id="261" r:id="rId18"/>
    <p:sldId id="275" r:id="rId19"/>
    <p:sldId id="276" r:id="rId20"/>
    <p:sldId id="277" r:id="rId21"/>
    <p:sldId id="278" r:id="rId22"/>
    <p:sldId id="280" r:id="rId23"/>
    <p:sldId id="279" r:id="rId24"/>
    <p:sldId id="263" r:id="rId25"/>
    <p:sldId id="265" r:id="rId26"/>
    <p:sldId id="291" r:id="rId27"/>
    <p:sldId id="292" r:id="rId28"/>
    <p:sldId id="293" r:id="rId29"/>
    <p:sldId id="312" r:id="rId30"/>
    <p:sldId id="316" r:id="rId31"/>
    <p:sldId id="317" r:id="rId32"/>
    <p:sldId id="313" r:id="rId33"/>
    <p:sldId id="314" r:id="rId34"/>
    <p:sldId id="315" r:id="rId35"/>
    <p:sldId id="295" r:id="rId36"/>
    <p:sldId id="318" r:id="rId37"/>
    <p:sldId id="319" r:id="rId38"/>
    <p:sldId id="306" r:id="rId39"/>
    <p:sldId id="307" r:id="rId40"/>
    <p:sldId id="308" r:id="rId41"/>
    <p:sldId id="296" r:id="rId42"/>
    <p:sldId id="320" r:id="rId43"/>
    <p:sldId id="309" r:id="rId44"/>
    <p:sldId id="310" r:id="rId45"/>
    <p:sldId id="321" r:id="rId46"/>
    <p:sldId id="322" r:id="rId47"/>
    <p:sldId id="324" r:id="rId48"/>
    <p:sldId id="297" r:id="rId49"/>
    <p:sldId id="323" r:id="rId50"/>
    <p:sldId id="298" r:id="rId51"/>
    <p:sldId id="299" r:id="rId52"/>
    <p:sldId id="327" r:id="rId53"/>
    <p:sldId id="300" r:id="rId54"/>
    <p:sldId id="325" r:id="rId55"/>
    <p:sldId id="326" r:id="rId56"/>
    <p:sldId id="281" r:id="rId57"/>
    <p:sldId id="288" r:id="rId58"/>
    <p:sldId id="289" r:id="rId59"/>
    <p:sldId id="283" r:id="rId60"/>
    <p:sldId id="284" r:id="rId61"/>
    <p:sldId id="285" r:id="rId62"/>
    <p:sldId id="286" r:id="rId63"/>
    <p:sldId id="287" r:id="rId64"/>
    <p:sldId id="262" r:id="rId6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56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71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5618-23F4-02D0-37BC-07854D09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5A6A5-CCBC-7164-96D2-C25F54A03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49914-9CF2-C055-AD61-267D1DB82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2190C-1117-DBD8-FAF8-2BBA8CA17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255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190D-DA27-390E-1A18-BF8EAF3E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A6809-539D-9EB9-E5FA-87D8F9407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65DE7-B973-6747-5973-FD07812AE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03ED1-A616-5417-2CA2-F2D67FE8D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627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045D-35C0-14D8-D9C6-29453F7B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E3723-5EA6-C46D-9539-D13BFF9A3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9D979B-9217-0AF8-F99D-2C66B76B6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3085F-6D7F-23C6-64E8-DE878BD95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84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2CBB-348A-5731-CFE9-F7F100A7F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5D029-E30B-D80B-C57F-A38C4303C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5FC71-1172-12FF-9B9A-E228DEDA6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8E30E-9895-43A8-A4FA-5919CE45E8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14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C36D7-F86D-EB36-DD49-B59187C1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E20BE-82D5-42F6-94A6-4CCDC3B33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2F269-33FF-7B85-2D21-E1D5B175A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6BDAE-1764-3F98-2E29-240967B82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12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9938-3705-AC29-5A2C-1F1E9809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F34FD8-4BBC-CCF0-DCCA-899818612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D3A72-1329-3EEA-25C0-BF69BB68B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8AAEA-0037-8DA1-17D1-E9F5D1C01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32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D3CC-53E7-4DFD-F484-AEF236D5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E4219-1080-9A7C-03BC-B9517094D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551C6-3A34-E27E-B69B-DA6FA6753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7237B-A255-2B42-C7A7-7BEA579AE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22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9062-04DD-3DD1-BF77-55A890B9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0B75B-EA4B-CE48-0B55-05EAAE144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ABB77-83FD-4112-4A91-A34A8A599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E3ED3-9AA8-2098-8F8F-CAE297E7E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19DB-E590-7D76-ED22-571630E6E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9C239-92D9-5FE4-F10A-CC073D3D7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764B1-C37A-1179-E4F2-510A8F299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4D7BB-3204-2EBB-8D9A-6A9B2BE5A0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9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DEA8-A947-690F-00CA-33B6682FD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B822C-EC80-BF40-E793-1BB7BE119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BBC54C-C312-B4E8-FAFE-1ABAB8550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CB0D1-C5CE-041D-0F5B-70F1562D0B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56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785C1-650C-AA07-4D56-7AE644AA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0FADE-C73E-1E68-10EF-B5D85E42B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F56128-A7B7-4233-C01A-30F66A0FF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35536-8DEE-17F8-541C-7B2990C05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48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56665-226D-DD0C-93FF-D19BAE2A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6B9F7-A5F2-D85D-1D70-1E7CB93E0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37333-163D-2C64-0FF3-E9220EC3D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8FAB2-F8CF-08EC-26E7-3B735DB732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28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BD3FA-ACB2-2063-2E24-7F21D2D6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059AA-0AFE-7E4E-FD7C-7A23AD493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A6F45-AE6E-3BBE-7A0E-3ABD0FCED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5B87D-4619-84F3-BF61-8936016D19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58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30603-E3F5-3C39-2DB8-491C6B39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FE17B-4EBC-2D72-C7E6-23B3B532B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CE680-FB0E-8022-36B4-AAA00AABD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98C64-CB01-DD2F-3BFE-E6EC3C40A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443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E224-7FC8-10C1-1681-0C4F5ECD2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290EF-C1C4-9BC5-99F2-4293788C6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02E3C-9117-14D3-02EC-734B2582B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83661-344F-70BD-AD4B-43EE862C70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01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D2EC8-B5E5-6E26-C42A-FC3AA547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84BF8-A8C0-7517-8B84-E885C0C27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9137F-710B-646F-50CF-0AC0BC3E4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6BEC1-3D84-23C4-0BE8-690A1EAF9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0392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3B23A-6DE8-9B49-B25E-C8CE099E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BF934-6CD9-1812-F688-0D765DBEC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F4C5D-9545-B02C-BF14-A78019493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5C542-B603-BA8D-99BF-CD4D083FF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9168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D336-2E23-51B4-77A3-22AFA18E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8C0CC-AC0E-4015-CA6E-3DE53453D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854FF-1EAA-34EC-E353-4DB5E3319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B8CB-9D44-FF1B-C4EC-C613EBEF6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0628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E7151-F566-4562-89CC-077DDD0C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A075B-4539-28F9-D956-FCBDB0497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B8B410-41D2-B62E-C74C-72682FA52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F42D7-3CAA-C8A6-701F-70FC1DBFF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8607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C6B13-6A4B-4577-3DF4-6DC05891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981DD-17D0-3155-5CD9-1EB98ACA9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08513-5288-00DF-1969-5636466F1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06245-894C-1313-17B5-C8BD551E8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8220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63CD-6EC5-B399-2AA5-901ECEB4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95F7A-0406-E687-BC3B-79C9680C5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14F99-EA40-B065-F393-60C618AE3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81F13-D827-4DB5-9368-40248CA5B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454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4C8D-3B5A-1A4E-5568-CB468F30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3ADD5-041D-5AC5-ABA5-60470F0CA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81622-54E5-A0B5-93B0-915996F44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5FB40-6D65-5225-8CC5-76701D8B1D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1322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B7CD-BD61-7793-1DAE-A8013CF8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8D542-CF40-9944-76EA-DAB9E808D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6E7AA-DC4D-321C-046A-5DA99FAF3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A1106-5ADE-309F-F334-59C93B51D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38261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764F-7B9B-859D-AE81-4EA0DF3C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648399-AB08-C01E-1334-F7A30E9EE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BE0E7-E217-8AD3-0759-7842E4810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5A847-D281-A66F-946C-26A78CC459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4657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43B8-30B4-9FD7-EAD4-527F0ADE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F6185-3DDC-8C73-C9E8-D986A549E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A8BDA-2F5B-6DFF-9531-62F0B8C4F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20AC5-66AE-FED1-0AAA-087CD37D8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2910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C948-9688-E9C2-3F29-D12132C5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F442B-23C8-6592-0FB5-D3AB91D46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1E0EE-EE00-4B22-9658-FD0AC4AAC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18FD-0E33-E0FB-A68B-5E71DCBB1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8314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DA6A5-6506-FC12-393A-190FC7CA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AF8AE-3A6F-1520-4AF1-0A27544C7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B2639-19E0-22FE-B874-D12D4899C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A64DD-ED63-A0D0-7379-C591C25A9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1833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9669F-9DDF-8605-326F-01D6C8CA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E922A-2E51-6B57-CEF2-4D0979806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FEA75-D2F3-E95E-CAA0-2F024E84A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BFFA0-82C2-43C5-087C-250A94726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7623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B560-C9E8-35FE-7BFD-CF5B3182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0943F-0242-DC49-2E0A-177464DE4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BEAFF-9AE0-F4BC-CC79-C26BF7D2A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8FBDC-6B0D-B429-3F90-D51655EFD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8385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FC29-B327-71AC-F4C2-432E5D3B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F9F30-ED4B-7422-05DD-F36B4908E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35C95-4469-3A60-DB1A-7C3B8675E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4C9A9-0946-2560-9E60-D7A68F7E6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75326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</a:rPr>
              <a:t>THEMENBLOCK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</a:rPr>
              <a:t>Persönlichkeitstheorien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</a:rPr>
              <a:t>Von Typen zu Dimensionen: Big Five und der Trait-Ansatz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</a:rPr>
              <a:t>WPF Psychologie und Philosophie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B5A7C"/>
                </a:solidFill>
              </a:rPr>
              <a:t>Rückblick</a:t>
            </a:r>
            <a:r>
              <a:rPr lang="en-US" sz="2800" b="1" dirty="0">
                <a:solidFill>
                  <a:srgbClr val="2B5A7C"/>
                </a:solidFill>
              </a:rPr>
              <a:t> </a:t>
            </a:r>
            <a:r>
              <a:rPr lang="en-US" sz="2800" b="1" dirty="0" err="1">
                <a:solidFill>
                  <a:srgbClr val="2B5A7C"/>
                </a:solidFill>
              </a:rPr>
              <a:t>Themenblock</a:t>
            </a:r>
            <a:r>
              <a:rPr lang="en-US" sz="2800" b="1" dirty="0">
                <a:solidFill>
                  <a:srgbClr val="2B5A7C"/>
                </a:solidFill>
              </a:rPr>
              <a:t> 5: Was </a:t>
            </a:r>
            <a:r>
              <a:rPr lang="en-US" sz="2800" b="1" dirty="0" err="1">
                <a:solidFill>
                  <a:srgbClr val="2B5A7C"/>
                </a:solidFill>
              </a:rPr>
              <a:t>haben</a:t>
            </a:r>
            <a:r>
              <a:rPr lang="en-US" sz="2800" b="1" dirty="0">
                <a:solidFill>
                  <a:srgbClr val="2B5A7C"/>
                </a:solidFill>
              </a:rPr>
              <a:t> </a:t>
            </a:r>
            <a:r>
              <a:rPr lang="en-US" sz="2800" b="1" dirty="0" err="1">
                <a:solidFill>
                  <a:srgbClr val="2B5A7C"/>
                </a:solidFill>
              </a:rPr>
              <a:t>wir</a:t>
            </a:r>
            <a:r>
              <a:rPr lang="en-US" sz="2800" b="1" dirty="0">
                <a:solidFill>
                  <a:srgbClr val="2B5A7C"/>
                </a:solidFill>
              </a:rPr>
              <a:t> </a:t>
            </a:r>
            <a:r>
              <a:rPr lang="en-US" sz="2800" b="1" dirty="0" err="1">
                <a:solidFill>
                  <a:srgbClr val="2B5A7C"/>
                </a:solidFill>
              </a:rPr>
              <a:t>bisher</a:t>
            </a:r>
            <a:r>
              <a:rPr lang="en-US" sz="2800" b="1" dirty="0">
                <a:solidFill>
                  <a:srgbClr val="2B5A7C"/>
                </a:solidFill>
              </a:rPr>
              <a:t> gemacht?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B5A7C"/>
            </a:solidFill>
            <a:prstDash val="solid"/>
          </a:ln>
        </p:spPr>
        <p:txBody>
          <a:bodyPr/>
          <a:lstStyle/>
          <a:p>
            <a:endParaRPr lang="de-DE" sz="280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A7C"/>
                </a:solidFill>
              </a:rPr>
              <a:t>1: </a:t>
            </a:r>
            <a:r>
              <a:rPr lang="en-US" sz="2000" b="1" dirty="0" err="1">
                <a:solidFill>
                  <a:srgbClr val="2B5A7C"/>
                </a:solidFill>
              </a:rPr>
              <a:t>Selbsttest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</a:rPr>
              <a:t>• 16 Personalities Test (MBTI)
• Hogwarts Sorting Hat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931920" cy="164592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73152" cy="164592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A7C"/>
                </a:solidFill>
              </a:rPr>
              <a:t>2: </a:t>
            </a:r>
            <a:r>
              <a:rPr lang="en-US" sz="2000" b="1" dirty="0" err="1">
                <a:solidFill>
                  <a:srgbClr val="2B5A7C"/>
                </a:solidFill>
              </a:rPr>
              <a:t>Gütekriterien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</a:rPr>
              <a:t>• </a:t>
            </a:r>
            <a:r>
              <a:rPr lang="en-US" dirty="0" err="1">
                <a:solidFill>
                  <a:srgbClr val="1E293B"/>
                </a:solidFill>
              </a:rPr>
              <a:t>Objektivität</a:t>
            </a:r>
            <a:r>
              <a:rPr lang="en-US" dirty="0">
                <a:solidFill>
                  <a:srgbClr val="1E293B"/>
                </a:solidFill>
              </a:rPr>
              <a:t> (O)
• </a:t>
            </a:r>
            <a:r>
              <a:rPr lang="en-US" dirty="0" err="1">
                <a:solidFill>
                  <a:srgbClr val="1E293B"/>
                </a:solidFill>
              </a:rPr>
              <a:t>Reliabilität</a:t>
            </a:r>
            <a:r>
              <a:rPr lang="en-US" dirty="0">
                <a:solidFill>
                  <a:srgbClr val="1E293B"/>
                </a:solidFill>
              </a:rPr>
              <a:t> (R)
• </a:t>
            </a:r>
            <a:r>
              <a:rPr lang="en-US" dirty="0" err="1">
                <a:solidFill>
                  <a:srgbClr val="1E293B"/>
                </a:solidFill>
              </a:rPr>
              <a:t>Validität</a:t>
            </a:r>
            <a:r>
              <a:rPr lang="en-US" dirty="0">
                <a:solidFill>
                  <a:srgbClr val="1E293B"/>
                </a:solidFill>
              </a:rPr>
              <a:t> (V)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115D-1347-F690-1451-4FBC8C982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194FC5-10EE-AC1F-4526-B064343F4046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B5A7C"/>
                </a:solidFill>
              </a:rPr>
              <a:t>Rückblick</a:t>
            </a:r>
            <a:r>
              <a:rPr lang="en-US" sz="2800" b="1" dirty="0">
                <a:solidFill>
                  <a:srgbClr val="2B5A7C"/>
                </a:solidFill>
              </a:rPr>
              <a:t> </a:t>
            </a:r>
            <a:r>
              <a:rPr lang="en-US" sz="2800" b="1" dirty="0" err="1">
                <a:solidFill>
                  <a:srgbClr val="2B5A7C"/>
                </a:solidFill>
              </a:rPr>
              <a:t>Themenblock</a:t>
            </a:r>
            <a:r>
              <a:rPr lang="en-US" sz="2800" b="1" dirty="0">
                <a:solidFill>
                  <a:srgbClr val="2B5A7C"/>
                </a:solidFill>
              </a:rPr>
              <a:t> 5: Was </a:t>
            </a:r>
            <a:r>
              <a:rPr lang="en-US" sz="2800" b="1" dirty="0" err="1">
                <a:solidFill>
                  <a:srgbClr val="2B5A7C"/>
                </a:solidFill>
              </a:rPr>
              <a:t>haben</a:t>
            </a:r>
            <a:r>
              <a:rPr lang="en-US" sz="2800" b="1" dirty="0">
                <a:solidFill>
                  <a:srgbClr val="2B5A7C"/>
                </a:solidFill>
              </a:rPr>
              <a:t> </a:t>
            </a:r>
            <a:r>
              <a:rPr lang="en-US" sz="2800" b="1" dirty="0" err="1">
                <a:solidFill>
                  <a:srgbClr val="2B5A7C"/>
                </a:solidFill>
              </a:rPr>
              <a:t>wir</a:t>
            </a:r>
            <a:r>
              <a:rPr lang="en-US" sz="2800" b="1" dirty="0">
                <a:solidFill>
                  <a:srgbClr val="2B5A7C"/>
                </a:solidFill>
              </a:rPr>
              <a:t> </a:t>
            </a:r>
            <a:r>
              <a:rPr lang="en-US" sz="2800" b="1" dirty="0" err="1">
                <a:solidFill>
                  <a:srgbClr val="2B5A7C"/>
                </a:solidFill>
              </a:rPr>
              <a:t>bisher</a:t>
            </a:r>
            <a:r>
              <a:rPr lang="en-US" sz="2800" b="1" dirty="0">
                <a:solidFill>
                  <a:srgbClr val="2B5A7C"/>
                </a:solidFill>
              </a:rPr>
              <a:t> gemacht?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75CB37-D328-BC48-FFBA-89D56C6F628A}"/>
              </a:ext>
            </a:extLst>
          </p:cNvPr>
          <p:cNvSpPr/>
          <p:nvPr/>
        </p:nvSpPr>
        <p:spPr>
          <a:xfrm>
            <a:off x="457200" y="1005840"/>
            <a:ext cx="3931920" cy="164592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B5A7C"/>
            </a:solidFill>
            <a:prstDash val="solid"/>
          </a:ln>
        </p:spPr>
        <p:txBody>
          <a:bodyPr/>
          <a:lstStyle/>
          <a:p>
            <a:endParaRPr lang="de-DE"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BA3D35-B530-0034-34B9-8E1154569E05}"/>
              </a:ext>
            </a:extLst>
          </p:cNvPr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91D402-8C7D-1A31-C16C-A45B2A593B9C}"/>
              </a:ext>
            </a:extLst>
          </p:cNvPr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A7C"/>
                </a:solidFill>
              </a:rPr>
              <a:t>1: </a:t>
            </a:r>
            <a:r>
              <a:rPr lang="en-US" sz="2000" b="1" dirty="0" err="1">
                <a:solidFill>
                  <a:srgbClr val="2B5A7C"/>
                </a:solidFill>
              </a:rPr>
              <a:t>Selbsttest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D00F60-5F4B-75B2-DC9E-64A2B787F1A6}"/>
              </a:ext>
            </a:extLst>
          </p:cNvPr>
          <p:cNvSpPr/>
          <p:nvPr/>
        </p:nvSpPr>
        <p:spPr>
          <a:xfrm>
            <a:off x="731520" y="1463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</a:rPr>
              <a:t>• 16 Personalities Test (MBTI)
• Hogwarts Sorting Hat</a:t>
            </a:r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3F1F9F4-F4F8-396A-B38D-92F3ED81F618}"/>
              </a:ext>
            </a:extLst>
          </p:cNvPr>
          <p:cNvSpPr/>
          <p:nvPr/>
        </p:nvSpPr>
        <p:spPr>
          <a:xfrm>
            <a:off x="457200" y="2834640"/>
            <a:ext cx="3931920" cy="164592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00CE3D7-F5BB-99BC-6AC9-19E66D37B581}"/>
              </a:ext>
            </a:extLst>
          </p:cNvPr>
          <p:cNvSpPr/>
          <p:nvPr/>
        </p:nvSpPr>
        <p:spPr>
          <a:xfrm>
            <a:off x="457200" y="2834640"/>
            <a:ext cx="73152" cy="164592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4D1652-A223-CEDD-B66A-2205E4C4CC04}"/>
              </a:ext>
            </a:extLst>
          </p:cNvPr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5A7C"/>
                </a:solidFill>
              </a:rPr>
              <a:t>2: </a:t>
            </a:r>
            <a:r>
              <a:rPr lang="en-US" sz="2000" b="1" dirty="0" err="1">
                <a:solidFill>
                  <a:srgbClr val="2B5A7C"/>
                </a:solidFill>
              </a:rPr>
              <a:t>Gütekriterien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D292604-47E6-691C-F4BE-C02CD569E5C1}"/>
              </a:ext>
            </a:extLst>
          </p:cNvPr>
          <p:cNvSpPr/>
          <p:nvPr/>
        </p:nvSpPr>
        <p:spPr>
          <a:xfrm>
            <a:off x="731520" y="3291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</a:rPr>
              <a:t>• </a:t>
            </a:r>
            <a:r>
              <a:rPr lang="en-US" dirty="0" err="1">
                <a:solidFill>
                  <a:srgbClr val="1E293B"/>
                </a:solidFill>
              </a:rPr>
              <a:t>Objektivität</a:t>
            </a:r>
            <a:r>
              <a:rPr lang="en-US" dirty="0">
                <a:solidFill>
                  <a:srgbClr val="1E293B"/>
                </a:solidFill>
              </a:rPr>
              <a:t> (O)
• </a:t>
            </a:r>
            <a:r>
              <a:rPr lang="en-US" dirty="0" err="1">
                <a:solidFill>
                  <a:srgbClr val="1E293B"/>
                </a:solidFill>
              </a:rPr>
              <a:t>Reliabilität</a:t>
            </a:r>
            <a:r>
              <a:rPr lang="en-US" dirty="0">
                <a:solidFill>
                  <a:srgbClr val="1E293B"/>
                </a:solidFill>
              </a:rPr>
              <a:t> (R)
• </a:t>
            </a:r>
            <a:r>
              <a:rPr lang="en-US" dirty="0" err="1">
                <a:solidFill>
                  <a:srgbClr val="1E293B"/>
                </a:solidFill>
              </a:rPr>
              <a:t>Validität</a:t>
            </a:r>
            <a:r>
              <a:rPr lang="en-US" dirty="0">
                <a:solidFill>
                  <a:srgbClr val="1E293B"/>
                </a:solidFill>
              </a:rPr>
              <a:t> (V)</a:t>
            </a:r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44194AA-424C-A116-ACF5-38BFA8D477AD}"/>
              </a:ext>
            </a:extLst>
          </p:cNvPr>
          <p:cNvSpPr/>
          <p:nvPr/>
        </p:nvSpPr>
        <p:spPr>
          <a:xfrm>
            <a:off x="4754880" y="1005840"/>
            <a:ext cx="3931920" cy="27432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 sz="2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A0F0AF-DC8E-91E6-8C46-506B976EAF27}"/>
              </a:ext>
            </a:extLst>
          </p:cNvPr>
          <p:cNvSpPr/>
          <p:nvPr/>
        </p:nvSpPr>
        <p:spPr>
          <a:xfrm>
            <a:off x="4937760" y="12821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</a:rPr>
              <a:t>Heute (und </a:t>
            </a:r>
            <a:r>
              <a:rPr lang="en-US" sz="2000" b="1" dirty="0" err="1">
                <a:solidFill>
                  <a:srgbClr val="F97316"/>
                </a:solidFill>
              </a:rPr>
              <a:t>nächstes</a:t>
            </a:r>
            <a:r>
              <a:rPr lang="en-US" sz="2000" b="1" dirty="0">
                <a:solidFill>
                  <a:srgbClr val="F97316"/>
                </a:solidFill>
              </a:rPr>
              <a:t> Mal): </a:t>
            </a:r>
            <a:r>
              <a:rPr lang="en-US" sz="2000" b="1" dirty="0" err="1">
                <a:solidFill>
                  <a:srgbClr val="F97316"/>
                </a:solidFill>
              </a:rPr>
              <a:t>Persönlichkeitstheorien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006436-20A5-646A-05CF-9F4CE967D1BB}"/>
              </a:ext>
            </a:extLst>
          </p:cNvPr>
          <p:cNvSpPr/>
          <p:nvPr/>
        </p:nvSpPr>
        <p:spPr>
          <a:xfrm>
            <a:off x="5029200" y="15087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</a:rPr>
              <a:t>• Was </a:t>
            </a:r>
            <a:r>
              <a:rPr lang="en-US" dirty="0" err="1">
                <a:solidFill>
                  <a:srgbClr val="1E293B"/>
                </a:solidFill>
              </a:rPr>
              <a:t>ist</a:t>
            </a:r>
            <a:r>
              <a:rPr lang="en-US" dirty="0">
                <a:solidFill>
                  <a:srgbClr val="1E293B"/>
                </a:solidFill>
              </a:rPr>
              <a:t> </a:t>
            </a:r>
            <a:r>
              <a:rPr lang="en-US" dirty="0" err="1">
                <a:solidFill>
                  <a:srgbClr val="1E293B"/>
                </a:solidFill>
              </a:rPr>
              <a:t>Persönlichkeit</a:t>
            </a:r>
            <a:r>
              <a:rPr lang="en-US" dirty="0">
                <a:solidFill>
                  <a:srgbClr val="1E293B"/>
                </a:solidFill>
              </a:rPr>
              <a:t>?
• Der Trait-Ansatz
• Die Big Five (OCEAN)
• </a:t>
            </a:r>
            <a:r>
              <a:rPr lang="en-US" dirty="0" err="1">
                <a:solidFill>
                  <a:srgbClr val="1E293B"/>
                </a:solidFill>
              </a:rPr>
              <a:t>Praktische</a:t>
            </a:r>
            <a:r>
              <a:rPr lang="en-US" dirty="0">
                <a:solidFill>
                  <a:srgbClr val="1E293B"/>
                </a:solidFill>
              </a:rPr>
              <a:t> </a:t>
            </a:r>
            <a:r>
              <a:rPr lang="en-US" dirty="0" err="1">
                <a:solidFill>
                  <a:srgbClr val="1E293B"/>
                </a:solidFill>
              </a:rPr>
              <a:t>Anwendung</a:t>
            </a:r>
            <a:r>
              <a:rPr lang="en-US" dirty="0">
                <a:solidFill>
                  <a:srgbClr val="1E293B"/>
                </a:solidFill>
              </a:rPr>
              <a:t>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90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5A7C"/>
                </a:solidFill>
              </a:rPr>
              <a:t>Was </a:t>
            </a:r>
            <a:r>
              <a:rPr lang="en-US" sz="3600" b="1" dirty="0" err="1">
                <a:solidFill>
                  <a:srgbClr val="2B5A7C"/>
                </a:solidFill>
              </a:rPr>
              <a:t>ist</a:t>
            </a:r>
            <a:r>
              <a:rPr lang="en-US" sz="3600" b="1" dirty="0">
                <a:solidFill>
                  <a:srgbClr val="2B5A7C"/>
                </a:solidFill>
              </a:rPr>
              <a:t> </a:t>
            </a:r>
            <a:r>
              <a:rPr lang="en-US" sz="3600" b="1" dirty="0" err="1">
                <a:solidFill>
                  <a:srgbClr val="2B5A7C"/>
                </a:solidFill>
              </a:rPr>
              <a:t>Persönlichkeit</a:t>
            </a:r>
            <a:r>
              <a:rPr lang="en-US" sz="3600" b="1" dirty="0">
                <a:solidFill>
                  <a:srgbClr val="2B5A7C"/>
                </a:solidFill>
              </a:rPr>
              <a:t>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Persönlichkeit</a:t>
            </a:r>
            <a:r>
              <a:rPr lang="en-US" dirty="0">
                <a:solidFill>
                  <a:srgbClr val="FFFFFF"/>
                </a:solidFill>
              </a:rPr>
              <a:t> bezeichnet die Gesamtheit aller </a:t>
            </a:r>
            <a:r>
              <a:rPr lang="en-US" dirty="0" err="1">
                <a:solidFill>
                  <a:srgbClr val="FFFFFF"/>
                </a:solidFill>
              </a:rPr>
              <a:t>relativ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überdauernden</a:t>
            </a:r>
            <a:r>
              <a:rPr lang="en-US" dirty="0">
                <a:solidFill>
                  <a:srgbClr val="FFFFFF"/>
                </a:solidFill>
              </a:rPr>
              <a:t> individuellen Besonderheiten im </a:t>
            </a:r>
            <a:r>
              <a:rPr lang="en-US" b="1" dirty="0">
                <a:solidFill>
                  <a:srgbClr val="FFFFFF"/>
                </a:solidFill>
              </a:rPr>
              <a:t>Erleben und Verhalten</a:t>
            </a:r>
            <a:r>
              <a:rPr lang="en-US" dirty="0">
                <a:solidFill>
                  <a:srgbClr val="FFFFFF"/>
                </a:solidFill>
              </a:rPr>
              <a:t> eines Menschen.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F9C-6407-EFA7-7535-AFE889B62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CA2095-2790-3DE2-0A8F-2B5652358EF1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5A7C"/>
                </a:solidFill>
              </a:rPr>
              <a:t>Was </a:t>
            </a:r>
            <a:r>
              <a:rPr lang="en-US" sz="3600" b="1" dirty="0" err="1">
                <a:solidFill>
                  <a:srgbClr val="2B5A7C"/>
                </a:solidFill>
              </a:rPr>
              <a:t>ist</a:t>
            </a:r>
            <a:r>
              <a:rPr lang="en-US" sz="3600" b="1" dirty="0">
                <a:solidFill>
                  <a:srgbClr val="2B5A7C"/>
                </a:solidFill>
              </a:rPr>
              <a:t> </a:t>
            </a:r>
            <a:r>
              <a:rPr lang="en-US" sz="3600" b="1" dirty="0" err="1">
                <a:solidFill>
                  <a:srgbClr val="2B5A7C"/>
                </a:solidFill>
              </a:rPr>
              <a:t>Persönlichkeit</a:t>
            </a:r>
            <a:r>
              <a:rPr lang="en-US" sz="3600" b="1" dirty="0">
                <a:solidFill>
                  <a:srgbClr val="2B5A7C"/>
                </a:solidFill>
              </a:rPr>
              <a:t>?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F6EC6F-039D-4132-1E76-DE4FA89D80AB}"/>
              </a:ext>
            </a:extLst>
          </p:cNvPr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363D64-1F8A-6969-5BE3-B24D8F3B300C}"/>
              </a:ext>
            </a:extLst>
          </p:cNvPr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Persönlichkeit</a:t>
            </a:r>
            <a:r>
              <a:rPr lang="en-US" dirty="0">
                <a:solidFill>
                  <a:srgbClr val="FFFFFF"/>
                </a:solidFill>
              </a:rPr>
              <a:t> bezeichnet die Gesamtheit aller </a:t>
            </a:r>
            <a:r>
              <a:rPr lang="en-US" dirty="0" err="1">
                <a:solidFill>
                  <a:srgbClr val="FFFFFF"/>
                </a:solidFill>
              </a:rPr>
              <a:t>relativ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überdauernden</a:t>
            </a:r>
            <a:r>
              <a:rPr lang="en-US" dirty="0">
                <a:solidFill>
                  <a:srgbClr val="FFFFFF"/>
                </a:solidFill>
              </a:rPr>
              <a:t> individuellen Besonderheiten im </a:t>
            </a:r>
            <a:r>
              <a:rPr lang="en-US" b="1" dirty="0">
                <a:solidFill>
                  <a:srgbClr val="FFFFFF"/>
                </a:solidFill>
              </a:rPr>
              <a:t>Erleben und Verhalten</a:t>
            </a:r>
            <a:r>
              <a:rPr lang="en-US" dirty="0">
                <a:solidFill>
                  <a:srgbClr val="FFFFFF"/>
                </a:solidFill>
              </a:rPr>
              <a:t> eines Menschen.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29D0CE-1F41-51B4-7C88-945346A09FDC}"/>
              </a:ext>
            </a:extLst>
          </p:cNvPr>
          <p:cNvSpPr/>
          <p:nvPr/>
        </p:nvSpPr>
        <p:spPr>
          <a:xfrm>
            <a:off x="45720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052848-0B5C-D09F-FB0A-1BAC4C14B043}"/>
              </a:ext>
            </a:extLst>
          </p:cNvPr>
          <p:cNvSpPr/>
          <p:nvPr/>
        </p:nvSpPr>
        <p:spPr>
          <a:xfrm>
            <a:off x="45720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460FB5-27DD-BEFE-7EEC-D22156FC10AD}"/>
              </a:ext>
            </a:extLst>
          </p:cNvPr>
          <p:cNvSpPr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B5A7C"/>
                </a:solidFill>
              </a:rPr>
              <a:t>Zeitliche</a:t>
            </a:r>
            <a:r>
              <a:rPr lang="en-US" b="1" dirty="0">
                <a:solidFill>
                  <a:srgbClr val="2B5A7C"/>
                </a:solidFill>
              </a:rPr>
              <a:t> </a:t>
            </a:r>
            <a:r>
              <a:rPr lang="en-US" b="1" dirty="0" err="1">
                <a:solidFill>
                  <a:srgbClr val="2B5A7C"/>
                </a:solidFill>
              </a:rPr>
              <a:t>Stabilität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3B18B1-EAAA-CE51-6E39-D47C7FB4FBE4}"/>
              </a:ext>
            </a:extLst>
          </p:cNvPr>
          <p:cNvSpPr/>
          <p:nvPr/>
        </p:nvSpPr>
        <p:spPr>
          <a:xfrm>
            <a:off x="54864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Keine </a:t>
            </a:r>
            <a:r>
              <a:rPr lang="en-US" sz="1600" dirty="0" err="1">
                <a:solidFill>
                  <a:srgbClr val="64748B"/>
                </a:solidFill>
              </a:rPr>
              <a:t>flüchtige</a:t>
            </a:r>
            <a:r>
              <a:rPr lang="en-US" sz="1600" dirty="0">
                <a:solidFill>
                  <a:srgbClr val="64748B"/>
                </a:solidFill>
              </a:rPr>
              <a:t> Stimmung, </a:t>
            </a:r>
            <a:r>
              <a:rPr lang="en-US" sz="1600" dirty="0" err="1">
                <a:solidFill>
                  <a:srgbClr val="64748B"/>
                </a:solidFill>
              </a:rPr>
              <a:t>sondern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über</a:t>
            </a:r>
            <a:r>
              <a:rPr lang="en-US" sz="1600" dirty="0">
                <a:solidFill>
                  <a:srgbClr val="64748B"/>
                </a:solidFill>
              </a:rPr>
              <a:t> Wochen und Jahre stabil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1318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FB05C-0724-0B79-74FF-CBB3C2E1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05FE15-306A-F323-B317-BFD3D321B094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5A7C"/>
                </a:solidFill>
              </a:rPr>
              <a:t>Was </a:t>
            </a:r>
            <a:r>
              <a:rPr lang="en-US" sz="3600" b="1" dirty="0" err="1">
                <a:solidFill>
                  <a:srgbClr val="2B5A7C"/>
                </a:solidFill>
              </a:rPr>
              <a:t>ist</a:t>
            </a:r>
            <a:r>
              <a:rPr lang="en-US" sz="3600" b="1" dirty="0">
                <a:solidFill>
                  <a:srgbClr val="2B5A7C"/>
                </a:solidFill>
              </a:rPr>
              <a:t> </a:t>
            </a:r>
            <a:r>
              <a:rPr lang="en-US" sz="3600" b="1" dirty="0" err="1">
                <a:solidFill>
                  <a:srgbClr val="2B5A7C"/>
                </a:solidFill>
              </a:rPr>
              <a:t>Persönlichkeit</a:t>
            </a:r>
            <a:r>
              <a:rPr lang="en-US" sz="3600" b="1" dirty="0">
                <a:solidFill>
                  <a:srgbClr val="2B5A7C"/>
                </a:solidFill>
              </a:rPr>
              <a:t>?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052EBF-09B4-4B89-7F46-20BC0B92EF1A}"/>
              </a:ext>
            </a:extLst>
          </p:cNvPr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C91E2E-E51F-D904-4999-20DA82AE101D}"/>
              </a:ext>
            </a:extLst>
          </p:cNvPr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Persönlichkeit</a:t>
            </a:r>
            <a:r>
              <a:rPr lang="en-US" dirty="0">
                <a:solidFill>
                  <a:srgbClr val="FFFFFF"/>
                </a:solidFill>
              </a:rPr>
              <a:t> bezeichnet die Gesamtheit aller </a:t>
            </a:r>
            <a:r>
              <a:rPr lang="en-US" dirty="0" err="1">
                <a:solidFill>
                  <a:srgbClr val="FFFFFF"/>
                </a:solidFill>
              </a:rPr>
              <a:t>relativ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überdauernden</a:t>
            </a:r>
            <a:r>
              <a:rPr lang="en-US" dirty="0">
                <a:solidFill>
                  <a:srgbClr val="FFFFFF"/>
                </a:solidFill>
              </a:rPr>
              <a:t> individuellen Besonderheiten im </a:t>
            </a:r>
            <a:r>
              <a:rPr lang="en-US" b="1" dirty="0">
                <a:solidFill>
                  <a:srgbClr val="FFFFFF"/>
                </a:solidFill>
              </a:rPr>
              <a:t>Erleben und Verhalten</a:t>
            </a:r>
            <a:r>
              <a:rPr lang="en-US" dirty="0">
                <a:solidFill>
                  <a:srgbClr val="FFFFFF"/>
                </a:solidFill>
              </a:rPr>
              <a:t> eines Menschen.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DF89A4-7B0F-6802-21EF-5DF658730255}"/>
              </a:ext>
            </a:extLst>
          </p:cNvPr>
          <p:cNvSpPr/>
          <p:nvPr/>
        </p:nvSpPr>
        <p:spPr>
          <a:xfrm>
            <a:off x="45720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FC7A51-AD8B-2F0E-6977-992F646ECABB}"/>
              </a:ext>
            </a:extLst>
          </p:cNvPr>
          <p:cNvSpPr/>
          <p:nvPr/>
        </p:nvSpPr>
        <p:spPr>
          <a:xfrm>
            <a:off x="45720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A14EA1-6D97-A1CE-A219-3EB9EBC5A22B}"/>
              </a:ext>
            </a:extLst>
          </p:cNvPr>
          <p:cNvSpPr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B5A7C"/>
                </a:solidFill>
              </a:rPr>
              <a:t>Zeitliche</a:t>
            </a:r>
            <a:r>
              <a:rPr lang="en-US" b="1" dirty="0">
                <a:solidFill>
                  <a:srgbClr val="2B5A7C"/>
                </a:solidFill>
              </a:rPr>
              <a:t> </a:t>
            </a:r>
            <a:r>
              <a:rPr lang="en-US" b="1" dirty="0" err="1">
                <a:solidFill>
                  <a:srgbClr val="2B5A7C"/>
                </a:solidFill>
              </a:rPr>
              <a:t>Stabilität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E086829-4948-4A0B-75BA-134E7D1D6192}"/>
              </a:ext>
            </a:extLst>
          </p:cNvPr>
          <p:cNvSpPr/>
          <p:nvPr/>
        </p:nvSpPr>
        <p:spPr>
          <a:xfrm>
            <a:off x="54864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Keine </a:t>
            </a:r>
            <a:r>
              <a:rPr lang="en-US" sz="1600" dirty="0" err="1">
                <a:solidFill>
                  <a:srgbClr val="64748B"/>
                </a:solidFill>
              </a:rPr>
              <a:t>flüchtige</a:t>
            </a:r>
            <a:r>
              <a:rPr lang="en-US" sz="1600" dirty="0">
                <a:solidFill>
                  <a:srgbClr val="64748B"/>
                </a:solidFill>
              </a:rPr>
              <a:t> Stimmung, </a:t>
            </a:r>
            <a:r>
              <a:rPr lang="en-US" sz="1600" dirty="0" err="1">
                <a:solidFill>
                  <a:srgbClr val="64748B"/>
                </a:solidFill>
              </a:rPr>
              <a:t>sondern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über</a:t>
            </a:r>
            <a:r>
              <a:rPr lang="en-US" sz="1600" dirty="0">
                <a:solidFill>
                  <a:srgbClr val="64748B"/>
                </a:solidFill>
              </a:rPr>
              <a:t> Wochen und Jahre stabil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827287-425B-844C-6B9C-E2AB63540BDE}"/>
              </a:ext>
            </a:extLst>
          </p:cNvPr>
          <p:cNvSpPr/>
          <p:nvPr/>
        </p:nvSpPr>
        <p:spPr>
          <a:xfrm>
            <a:off x="256032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81A7915-B5F9-9D83-9580-0CA9EE244C9D}"/>
              </a:ext>
            </a:extLst>
          </p:cNvPr>
          <p:cNvSpPr/>
          <p:nvPr/>
        </p:nvSpPr>
        <p:spPr>
          <a:xfrm>
            <a:off x="256032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A5E090-1061-C6F6-DFE3-0EF302ADFAA2}"/>
              </a:ext>
            </a:extLst>
          </p:cNvPr>
          <p:cNvSpPr/>
          <p:nvPr/>
        </p:nvSpPr>
        <p:spPr>
          <a:xfrm>
            <a:off x="265176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5A7C"/>
                </a:solidFill>
              </a:rPr>
              <a:t>Transsituative Konsistenz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B17C90B-40CF-07CD-8E8F-2B9A4EE99002}"/>
              </a:ext>
            </a:extLst>
          </p:cNvPr>
          <p:cNvSpPr/>
          <p:nvPr/>
        </p:nvSpPr>
        <p:spPr>
          <a:xfrm>
            <a:off x="265176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Zeigt sich in verschiedenen Situationen (Party UND Unterricht)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5015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A0262-E530-4DAE-1F96-4AF5C683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AE9C2A-A927-242E-DD26-12F01EC0B8EF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5A7C"/>
                </a:solidFill>
              </a:rPr>
              <a:t>Was </a:t>
            </a:r>
            <a:r>
              <a:rPr lang="en-US" sz="3600" b="1" dirty="0" err="1">
                <a:solidFill>
                  <a:srgbClr val="2B5A7C"/>
                </a:solidFill>
              </a:rPr>
              <a:t>ist</a:t>
            </a:r>
            <a:r>
              <a:rPr lang="en-US" sz="3600" b="1" dirty="0">
                <a:solidFill>
                  <a:srgbClr val="2B5A7C"/>
                </a:solidFill>
              </a:rPr>
              <a:t> </a:t>
            </a:r>
            <a:r>
              <a:rPr lang="en-US" sz="3600" b="1" dirty="0" err="1">
                <a:solidFill>
                  <a:srgbClr val="2B5A7C"/>
                </a:solidFill>
              </a:rPr>
              <a:t>Persönlichkeit</a:t>
            </a:r>
            <a:r>
              <a:rPr lang="en-US" sz="3600" b="1" dirty="0">
                <a:solidFill>
                  <a:srgbClr val="2B5A7C"/>
                </a:solidFill>
              </a:rPr>
              <a:t>?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7FA362-DE9F-0458-6D61-B9ECD5317AB9}"/>
              </a:ext>
            </a:extLst>
          </p:cNvPr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777A36-BA6D-BB9F-63AD-A29FD80AAB52}"/>
              </a:ext>
            </a:extLst>
          </p:cNvPr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Persönlichkeit</a:t>
            </a:r>
            <a:r>
              <a:rPr lang="en-US" dirty="0">
                <a:solidFill>
                  <a:srgbClr val="FFFFFF"/>
                </a:solidFill>
              </a:rPr>
              <a:t> bezeichnet die Gesamtheit aller </a:t>
            </a:r>
            <a:r>
              <a:rPr lang="en-US" dirty="0" err="1">
                <a:solidFill>
                  <a:srgbClr val="FFFFFF"/>
                </a:solidFill>
              </a:rPr>
              <a:t>relativ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überdauernden</a:t>
            </a:r>
            <a:r>
              <a:rPr lang="en-US" dirty="0">
                <a:solidFill>
                  <a:srgbClr val="FFFFFF"/>
                </a:solidFill>
              </a:rPr>
              <a:t> individuellen Besonderheiten im </a:t>
            </a:r>
            <a:r>
              <a:rPr lang="en-US" b="1" dirty="0">
                <a:solidFill>
                  <a:srgbClr val="FFFFFF"/>
                </a:solidFill>
              </a:rPr>
              <a:t>Erleben und Verhalten</a:t>
            </a:r>
            <a:r>
              <a:rPr lang="en-US" dirty="0">
                <a:solidFill>
                  <a:srgbClr val="FFFFFF"/>
                </a:solidFill>
              </a:rPr>
              <a:t> eines Menschen.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C811AC-A287-078C-B395-F9A113E33C8F}"/>
              </a:ext>
            </a:extLst>
          </p:cNvPr>
          <p:cNvSpPr/>
          <p:nvPr/>
        </p:nvSpPr>
        <p:spPr>
          <a:xfrm>
            <a:off x="45720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D24458-E18A-A722-C7A1-516EDDF85C73}"/>
              </a:ext>
            </a:extLst>
          </p:cNvPr>
          <p:cNvSpPr/>
          <p:nvPr/>
        </p:nvSpPr>
        <p:spPr>
          <a:xfrm>
            <a:off x="45720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864E08-774B-4A64-B30D-05BB69A5171F}"/>
              </a:ext>
            </a:extLst>
          </p:cNvPr>
          <p:cNvSpPr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B5A7C"/>
                </a:solidFill>
              </a:rPr>
              <a:t>Zeitliche</a:t>
            </a:r>
            <a:r>
              <a:rPr lang="en-US" b="1" dirty="0">
                <a:solidFill>
                  <a:srgbClr val="2B5A7C"/>
                </a:solidFill>
              </a:rPr>
              <a:t> </a:t>
            </a:r>
            <a:r>
              <a:rPr lang="en-US" b="1" dirty="0" err="1">
                <a:solidFill>
                  <a:srgbClr val="2B5A7C"/>
                </a:solidFill>
              </a:rPr>
              <a:t>Stabilität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D12652-CEF0-1F1B-0448-E446F29099F5}"/>
              </a:ext>
            </a:extLst>
          </p:cNvPr>
          <p:cNvSpPr/>
          <p:nvPr/>
        </p:nvSpPr>
        <p:spPr>
          <a:xfrm>
            <a:off x="54864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Keine </a:t>
            </a:r>
            <a:r>
              <a:rPr lang="en-US" sz="1600" dirty="0" err="1">
                <a:solidFill>
                  <a:srgbClr val="64748B"/>
                </a:solidFill>
              </a:rPr>
              <a:t>flüchtige</a:t>
            </a:r>
            <a:r>
              <a:rPr lang="en-US" sz="1600" dirty="0">
                <a:solidFill>
                  <a:srgbClr val="64748B"/>
                </a:solidFill>
              </a:rPr>
              <a:t> Stimmung, </a:t>
            </a:r>
            <a:r>
              <a:rPr lang="en-US" sz="1600" dirty="0" err="1">
                <a:solidFill>
                  <a:srgbClr val="64748B"/>
                </a:solidFill>
              </a:rPr>
              <a:t>sondern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über</a:t>
            </a:r>
            <a:r>
              <a:rPr lang="en-US" sz="1600" dirty="0">
                <a:solidFill>
                  <a:srgbClr val="64748B"/>
                </a:solidFill>
              </a:rPr>
              <a:t> Wochen und Jahre stabil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BD1D02-D7DD-C224-7D71-A265F226102B}"/>
              </a:ext>
            </a:extLst>
          </p:cNvPr>
          <p:cNvSpPr/>
          <p:nvPr/>
        </p:nvSpPr>
        <p:spPr>
          <a:xfrm>
            <a:off x="256032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FE5D06D-703C-ECFB-438A-21D00A5E01BB}"/>
              </a:ext>
            </a:extLst>
          </p:cNvPr>
          <p:cNvSpPr/>
          <p:nvPr/>
        </p:nvSpPr>
        <p:spPr>
          <a:xfrm>
            <a:off x="256032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7927086-5368-2DC3-30CC-7DD965404C39}"/>
              </a:ext>
            </a:extLst>
          </p:cNvPr>
          <p:cNvSpPr/>
          <p:nvPr/>
        </p:nvSpPr>
        <p:spPr>
          <a:xfrm>
            <a:off x="265176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5A7C"/>
                </a:solidFill>
              </a:rPr>
              <a:t>Transsituative Konsistenz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4B2AE87-A7E7-E6D3-886E-C0069BAA0E5D}"/>
              </a:ext>
            </a:extLst>
          </p:cNvPr>
          <p:cNvSpPr/>
          <p:nvPr/>
        </p:nvSpPr>
        <p:spPr>
          <a:xfrm>
            <a:off x="265176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Zeigt sich in verschiedenen Situationen (Party UND Unterricht)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B0B8A6-7F76-6CEF-55CF-F3114E23A377}"/>
              </a:ext>
            </a:extLst>
          </p:cNvPr>
          <p:cNvSpPr/>
          <p:nvPr/>
        </p:nvSpPr>
        <p:spPr>
          <a:xfrm>
            <a:off x="466344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E63E106-8BC3-A08B-F41B-315EF1F84B94}"/>
              </a:ext>
            </a:extLst>
          </p:cNvPr>
          <p:cNvSpPr/>
          <p:nvPr/>
        </p:nvSpPr>
        <p:spPr>
          <a:xfrm>
            <a:off x="466344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93CE3B5-973F-E356-C7FD-5BABCB50CCB4}"/>
              </a:ext>
            </a:extLst>
          </p:cNvPr>
          <p:cNvSpPr/>
          <p:nvPr/>
        </p:nvSpPr>
        <p:spPr>
          <a:xfrm>
            <a:off x="475488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B5A7C"/>
                </a:solidFill>
              </a:rPr>
              <a:t>Individualität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F036E40-2638-88EE-A929-46D286CFF8B8}"/>
              </a:ext>
            </a:extLst>
          </p:cNvPr>
          <p:cNvSpPr/>
          <p:nvPr/>
        </p:nvSpPr>
        <p:spPr>
          <a:xfrm>
            <a:off x="475488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Was Menschen voneinander unterscheidet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123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74F1-B1C3-E8D9-AC27-BFBC2156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0B53CE-4DE3-7BBF-BE16-E37D6EB669D2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B5A7C"/>
                </a:solidFill>
              </a:rPr>
              <a:t>Was </a:t>
            </a:r>
            <a:r>
              <a:rPr lang="en-US" sz="3600" b="1" dirty="0" err="1">
                <a:solidFill>
                  <a:srgbClr val="2B5A7C"/>
                </a:solidFill>
              </a:rPr>
              <a:t>ist</a:t>
            </a:r>
            <a:r>
              <a:rPr lang="en-US" sz="3600" b="1" dirty="0">
                <a:solidFill>
                  <a:srgbClr val="2B5A7C"/>
                </a:solidFill>
              </a:rPr>
              <a:t> </a:t>
            </a:r>
            <a:r>
              <a:rPr lang="en-US" sz="3600" b="1" dirty="0" err="1">
                <a:solidFill>
                  <a:srgbClr val="2B5A7C"/>
                </a:solidFill>
              </a:rPr>
              <a:t>Persönlichkeit</a:t>
            </a:r>
            <a:r>
              <a:rPr lang="en-US" sz="3600" b="1" dirty="0">
                <a:solidFill>
                  <a:srgbClr val="2B5A7C"/>
                </a:solidFill>
              </a:rPr>
              <a:t>?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06BAD5-D737-13E0-7925-E39ABDF4B6F3}"/>
              </a:ext>
            </a:extLst>
          </p:cNvPr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10294D-8F2A-1247-305E-C47819074A37}"/>
              </a:ext>
            </a:extLst>
          </p:cNvPr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Persönlichkeit</a:t>
            </a:r>
            <a:r>
              <a:rPr lang="en-US" dirty="0">
                <a:solidFill>
                  <a:srgbClr val="FFFFFF"/>
                </a:solidFill>
              </a:rPr>
              <a:t> bezeichnet die Gesamtheit aller </a:t>
            </a:r>
            <a:r>
              <a:rPr lang="en-US" dirty="0" err="1">
                <a:solidFill>
                  <a:srgbClr val="FFFFFF"/>
                </a:solidFill>
              </a:rPr>
              <a:t>relativ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b="1" dirty="0" err="1">
                <a:solidFill>
                  <a:srgbClr val="FFFFFF"/>
                </a:solidFill>
              </a:rPr>
              <a:t>überdauernden</a:t>
            </a:r>
            <a:r>
              <a:rPr lang="en-US" dirty="0">
                <a:solidFill>
                  <a:srgbClr val="FFFFFF"/>
                </a:solidFill>
              </a:rPr>
              <a:t> individuellen Besonderheiten im </a:t>
            </a:r>
            <a:r>
              <a:rPr lang="en-US" b="1" dirty="0">
                <a:solidFill>
                  <a:srgbClr val="FFFFFF"/>
                </a:solidFill>
              </a:rPr>
              <a:t>Erleben und Verhalten</a:t>
            </a:r>
            <a:r>
              <a:rPr lang="en-US" dirty="0">
                <a:solidFill>
                  <a:srgbClr val="FFFFFF"/>
                </a:solidFill>
              </a:rPr>
              <a:t> eines Menschen.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4CE0210-9EE1-7DFD-0C8A-BF0A8F6FF00E}"/>
              </a:ext>
            </a:extLst>
          </p:cNvPr>
          <p:cNvSpPr/>
          <p:nvPr/>
        </p:nvSpPr>
        <p:spPr>
          <a:xfrm>
            <a:off x="45720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251853-9532-7241-20EA-C724C38B8A4D}"/>
              </a:ext>
            </a:extLst>
          </p:cNvPr>
          <p:cNvSpPr/>
          <p:nvPr/>
        </p:nvSpPr>
        <p:spPr>
          <a:xfrm>
            <a:off x="45720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122207C-4F3D-6BDC-A8D5-237B253A6A77}"/>
              </a:ext>
            </a:extLst>
          </p:cNvPr>
          <p:cNvSpPr/>
          <p:nvPr/>
        </p:nvSpPr>
        <p:spPr>
          <a:xfrm>
            <a:off x="54864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B5A7C"/>
                </a:solidFill>
              </a:rPr>
              <a:t>Zeitliche</a:t>
            </a:r>
            <a:r>
              <a:rPr lang="en-US" b="1" dirty="0">
                <a:solidFill>
                  <a:srgbClr val="2B5A7C"/>
                </a:solidFill>
              </a:rPr>
              <a:t> </a:t>
            </a:r>
            <a:r>
              <a:rPr lang="en-US" b="1" dirty="0" err="1">
                <a:solidFill>
                  <a:srgbClr val="2B5A7C"/>
                </a:solidFill>
              </a:rPr>
              <a:t>Stabilität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5314D3C-1B1D-4E5B-48C0-14DB6C507D80}"/>
              </a:ext>
            </a:extLst>
          </p:cNvPr>
          <p:cNvSpPr/>
          <p:nvPr/>
        </p:nvSpPr>
        <p:spPr>
          <a:xfrm>
            <a:off x="54864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Keine </a:t>
            </a:r>
            <a:r>
              <a:rPr lang="en-US" sz="1600" dirty="0" err="1">
                <a:solidFill>
                  <a:srgbClr val="64748B"/>
                </a:solidFill>
              </a:rPr>
              <a:t>flüchtige</a:t>
            </a:r>
            <a:r>
              <a:rPr lang="en-US" sz="1600" dirty="0">
                <a:solidFill>
                  <a:srgbClr val="64748B"/>
                </a:solidFill>
              </a:rPr>
              <a:t> Stimmung, </a:t>
            </a:r>
            <a:r>
              <a:rPr lang="en-US" sz="1600" dirty="0" err="1">
                <a:solidFill>
                  <a:srgbClr val="64748B"/>
                </a:solidFill>
              </a:rPr>
              <a:t>sondern</a:t>
            </a:r>
            <a:r>
              <a:rPr lang="en-US" sz="1600" dirty="0">
                <a:solidFill>
                  <a:srgbClr val="64748B"/>
                </a:solidFill>
              </a:rPr>
              <a:t> </a:t>
            </a:r>
            <a:r>
              <a:rPr lang="en-US" sz="1600" dirty="0" err="1">
                <a:solidFill>
                  <a:srgbClr val="64748B"/>
                </a:solidFill>
              </a:rPr>
              <a:t>über</a:t>
            </a:r>
            <a:r>
              <a:rPr lang="en-US" sz="1600" dirty="0">
                <a:solidFill>
                  <a:srgbClr val="64748B"/>
                </a:solidFill>
              </a:rPr>
              <a:t> Wochen und Jahre stabil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FD4D5FE-C5E8-DCA0-03A7-882559386DDB}"/>
              </a:ext>
            </a:extLst>
          </p:cNvPr>
          <p:cNvSpPr/>
          <p:nvPr/>
        </p:nvSpPr>
        <p:spPr>
          <a:xfrm>
            <a:off x="256032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E6C2B3C-4BFA-36CD-6AA2-86F04B5C113D}"/>
              </a:ext>
            </a:extLst>
          </p:cNvPr>
          <p:cNvSpPr/>
          <p:nvPr/>
        </p:nvSpPr>
        <p:spPr>
          <a:xfrm>
            <a:off x="256032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4EA262-D4A5-A055-7E32-7F5D4AD3E7F8}"/>
              </a:ext>
            </a:extLst>
          </p:cNvPr>
          <p:cNvSpPr/>
          <p:nvPr/>
        </p:nvSpPr>
        <p:spPr>
          <a:xfrm>
            <a:off x="265176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5A7C"/>
                </a:solidFill>
              </a:rPr>
              <a:t>Transsituative Konsistenz</a:t>
            </a: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FC1C4FD-CCC1-2DD8-0D71-CBCEDE3DC548}"/>
              </a:ext>
            </a:extLst>
          </p:cNvPr>
          <p:cNvSpPr/>
          <p:nvPr/>
        </p:nvSpPr>
        <p:spPr>
          <a:xfrm>
            <a:off x="265176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Zeigt sich in verschiedenen Situationen (Party UND Unterricht)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EBD33D2-156E-0045-D886-7188E80B4C02}"/>
              </a:ext>
            </a:extLst>
          </p:cNvPr>
          <p:cNvSpPr/>
          <p:nvPr/>
        </p:nvSpPr>
        <p:spPr>
          <a:xfrm>
            <a:off x="466344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05DBB2F-B5A3-D791-FF22-22A32C884C59}"/>
              </a:ext>
            </a:extLst>
          </p:cNvPr>
          <p:cNvSpPr/>
          <p:nvPr/>
        </p:nvSpPr>
        <p:spPr>
          <a:xfrm>
            <a:off x="466344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F5EB61-FCE8-0150-EF97-CD0D1581AD17}"/>
              </a:ext>
            </a:extLst>
          </p:cNvPr>
          <p:cNvSpPr/>
          <p:nvPr/>
        </p:nvSpPr>
        <p:spPr>
          <a:xfrm>
            <a:off x="475488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2B5A7C"/>
                </a:solidFill>
              </a:rPr>
              <a:t>Individualität</a:t>
            </a:r>
            <a:endParaRPr lang="en-US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4313BC0-DACB-07C3-2023-E3C4B7851313}"/>
              </a:ext>
            </a:extLst>
          </p:cNvPr>
          <p:cNvSpPr/>
          <p:nvPr/>
        </p:nvSpPr>
        <p:spPr>
          <a:xfrm>
            <a:off x="475488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Was Menschen voneinander unterscheidet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52D25BD-0518-2FBE-457B-C8018DF0A16E}"/>
              </a:ext>
            </a:extLst>
          </p:cNvPr>
          <p:cNvSpPr/>
          <p:nvPr/>
        </p:nvSpPr>
        <p:spPr>
          <a:xfrm>
            <a:off x="6766560" y="1920240"/>
            <a:ext cx="1965960" cy="237744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19FCA98-4D9B-D781-5426-1C26EB3C8D04}"/>
              </a:ext>
            </a:extLst>
          </p:cNvPr>
          <p:cNvSpPr/>
          <p:nvPr/>
        </p:nvSpPr>
        <p:spPr>
          <a:xfrm>
            <a:off x="6766560" y="2011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CFCE7A1-BA8B-7782-AF8C-502192191F90}"/>
              </a:ext>
            </a:extLst>
          </p:cNvPr>
          <p:cNvSpPr/>
          <p:nvPr/>
        </p:nvSpPr>
        <p:spPr>
          <a:xfrm>
            <a:off x="6858000" y="23774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5A7C"/>
                </a:solidFill>
              </a:rPr>
              <a:t>Erleben &amp; Verhalten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4BD9C6B-6191-B818-D9EF-554E5BCA70A9}"/>
              </a:ext>
            </a:extLst>
          </p:cNvPr>
          <p:cNvSpPr/>
          <p:nvPr/>
        </p:nvSpPr>
        <p:spPr>
          <a:xfrm>
            <a:off x="6858000" y="288036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Nicht nur sichtbar, auch Gedanken und </a:t>
            </a:r>
            <a:r>
              <a:rPr lang="en-US" sz="1600" dirty="0" err="1">
                <a:solidFill>
                  <a:srgbClr val="64748B"/>
                </a:solidFill>
              </a:rPr>
              <a:t>Gefühle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0746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9" y="228600"/>
            <a:ext cx="82448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 err="1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Persönlichkeit</a:t>
            </a:r>
            <a:r>
              <a:rPr lang="en-US" sz="2100" b="1" dirty="0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100" b="1" dirty="0" err="1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Wichtige</a:t>
            </a:r>
            <a:r>
              <a:rPr lang="en-US" sz="2100" b="1" dirty="0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Abgrenzung</a:t>
            </a:r>
            <a:r>
              <a:rPr lang="en-US" sz="2100" b="1" dirty="0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zu</a:t>
            </a:r>
            <a:r>
              <a:rPr lang="en-US" sz="2100" b="1" dirty="0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 err="1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verwandten</a:t>
            </a:r>
            <a:r>
              <a:rPr lang="en-US" sz="2100" b="1" dirty="0">
                <a:solidFill>
                  <a:schemeClr val="bg1">
                    <a:lumMod val="85000"/>
                  </a:schemeClr>
                </a:solidFill>
                <a:highlight>
                  <a:srgbClr val="00008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Begriffe</a:t>
            </a:r>
            <a:endParaRPr lang="en-US" sz="2100" dirty="0">
              <a:solidFill>
                <a:schemeClr val="bg1">
                  <a:lumMod val="85000"/>
                </a:schemeClr>
              </a:solidFill>
              <a:highlight>
                <a:srgbClr val="00008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252311" y="751676"/>
            <a:ext cx="731302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Definitionen dem richtigen Begriff zu: </a:t>
            </a:r>
            <a:br>
              <a:rPr lang="en-US" sz="2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Temperament, C = Charakter, I = Identität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1613446"/>
            <a:ext cx="8686800" cy="64770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1950" y="17277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850678"/>
            <a:ext cx="69975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subjektive Selbstverständnis – die Antwort auf „Wer bin ich?". Umfasst Gruppenzugehörigkeiten, Werte und Lebensziele.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2356396"/>
            <a:ext cx="8686800" cy="64770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1950" y="247069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593628"/>
            <a:ext cx="598884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angeborenen, biologisch fundierten Grundlagen der Persönlichkeit. Zeigt sich bereits im Säuglingsalter.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3099346"/>
            <a:ext cx="8686800" cy="64770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950" y="3213646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14400" y="3336578"/>
            <a:ext cx="52747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Älterer Begriff mit moralischer Konnotation. Bezieht sich auf Wertvorstellungen und Haltungen.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" y="4577804"/>
            <a:ext cx="8686800" cy="337096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47650" y="4577804"/>
            <a:ext cx="0" cy="33709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5" name="Text 13"/>
          <p:cNvSpPr/>
          <p:nvPr/>
        </p:nvSpPr>
        <p:spPr>
          <a:xfrm>
            <a:off x="381000" y="4673054"/>
            <a:ext cx="85885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</a:t>
            </a: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Überlege</a:t>
            </a: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dirty="0" err="1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welcher</a:t>
            </a:r>
            <a:r>
              <a:rPr lang="en-US" sz="12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Begriff eine Wertung impliziert, welcher biologisch fundiert ist und welcher subjektiv erlebt wird.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124" y="350008"/>
            <a:ext cx="10711962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Abgrenzung verwandter Begriffe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88295" y="1076357"/>
            <a:ext cx="17351006" cy="1002902"/>
          </a:xfrm>
          <a:prstGeom prst="roundRect">
            <a:avLst>
              <a:gd name="adj" fmla="val 103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2108" y="1076357"/>
            <a:ext cx="0" cy="1002902"/>
          </a:xfrm>
          <a:prstGeom prst="line">
            <a:avLst/>
          </a:prstGeom>
          <a:noFill/>
          <a:ln w="4762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5" name="Text 3"/>
          <p:cNvSpPr/>
          <p:nvPr/>
        </p:nvSpPr>
        <p:spPr>
          <a:xfrm>
            <a:off x="409575" y="1343030"/>
            <a:ext cx="837110" cy="568816"/>
          </a:xfrm>
          <a:prstGeom prst="roundRect">
            <a:avLst>
              <a:gd name="adj" fmla="val 13636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✓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88744" y="1436284"/>
            <a:ext cx="6501222" cy="23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Identität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88744" y="1638086"/>
            <a:ext cx="6501222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subjektive Selbstverständnis – die Antwort auf „Wer bin ich?"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88744" y="1827513"/>
            <a:ext cx="650122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Persönlichkeit kann von außen beobachtet werden; Identität ist subjektiv.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4590" y="2052103"/>
            <a:ext cx="17351006" cy="1002902"/>
          </a:xfrm>
          <a:prstGeom prst="roundRect">
            <a:avLst>
              <a:gd name="adj" fmla="val 103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12108" y="2042914"/>
            <a:ext cx="0" cy="1002902"/>
          </a:xfrm>
          <a:prstGeom prst="line">
            <a:avLst/>
          </a:prstGeom>
          <a:noFill/>
          <a:ln w="4762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1" name="Text 9"/>
          <p:cNvSpPr/>
          <p:nvPr/>
        </p:nvSpPr>
        <p:spPr>
          <a:xfrm>
            <a:off x="409575" y="2177212"/>
            <a:ext cx="837110" cy="568816"/>
          </a:xfrm>
          <a:prstGeom prst="roundRect">
            <a:avLst>
              <a:gd name="adj" fmla="val 13636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✓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388745" y="2270465"/>
            <a:ext cx="6704982" cy="23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88745" y="2472267"/>
            <a:ext cx="6704982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angeborenen, biologisch fundierten Grundlagen der Persönlichkeit.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8745" y="2661695"/>
            <a:ext cx="6704982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Temperament ist das biologische „Rohmaterial" für Persönlichkeit.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295" y="2804998"/>
            <a:ext cx="17351006" cy="1002902"/>
          </a:xfrm>
          <a:prstGeom prst="roundRect">
            <a:avLst>
              <a:gd name="adj" fmla="val 1031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12108" y="2744720"/>
            <a:ext cx="0" cy="1002902"/>
          </a:xfrm>
          <a:prstGeom prst="line">
            <a:avLst/>
          </a:prstGeom>
          <a:noFill/>
          <a:ln w="4762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17" name="Text 15"/>
          <p:cNvSpPr/>
          <p:nvPr/>
        </p:nvSpPr>
        <p:spPr>
          <a:xfrm>
            <a:off x="409575" y="3011393"/>
            <a:ext cx="837110" cy="568816"/>
          </a:xfrm>
          <a:prstGeom prst="roundRect">
            <a:avLst>
              <a:gd name="adj" fmla="val 13636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chemeClr val="bg1">
                    <a:lumMod val="85000"/>
                  </a:schemeClr>
                </a:solidFill>
              </a:rPr>
              <a:t>✓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388745" y="3104647"/>
            <a:ext cx="7466960" cy="23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Charakter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8745" y="3306449"/>
            <a:ext cx="7466960" cy="198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Älterer Begriff mit moralischer Konnotation. Bezieht sich auf Wertvorstellungen.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88745" y="3495877"/>
            <a:ext cx="7466960" cy="1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„Charakter" impliziert eine Bewertung, „Persönlichkeit" ist wertneutral.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295" y="4047035"/>
            <a:ext cx="8561379" cy="909700"/>
          </a:xfrm>
          <a:prstGeom prst="roundRect">
            <a:avLst>
              <a:gd name="adj" fmla="val 16047"/>
            </a:avLst>
          </a:prstGeom>
          <a:solidFill>
            <a:srgbClr val="FFF3E0"/>
          </a:solidFill>
          <a:ln w="9525">
            <a:solidFill>
              <a:srgbClr val="E07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09575" y="4135578"/>
            <a:ext cx="8326921" cy="734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„Persönlichkeit" ist der wissenschaftliche, </a:t>
            </a:r>
            <a:r>
              <a:rPr lang="en-US" sz="20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wertneutrale</a:t>
            </a: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Oberbegriff</a:t>
            </a: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632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B5A7C"/>
                </a:solidFill>
              </a:rPr>
              <a:t>Persönlichkeitsmerkmale</a:t>
            </a:r>
            <a:r>
              <a:rPr lang="en-US" sz="2800" b="1" dirty="0">
                <a:solidFill>
                  <a:srgbClr val="2B5A7C"/>
                </a:solidFill>
              </a:rPr>
              <a:t> (Traits)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Traits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sind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Wesenzüge</a:t>
            </a:r>
            <a:r>
              <a:rPr lang="en-US" dirty="0">
                <a:solidFill>
                  <a:srgbClr val="FFFFFF"/>
                </a:solidFill>
              </a:rPr>
              <a:t> einer Person, die </a:t>
            </a:r>
            <a:r>
              <a:rPr lang="en-US" b="1" dirty="0">
                <a:solidFill>
                  <a:srgbClr val="FFFFFF"/>
                </a:solidFill>
              </a:rPr>
              <a:t>relativ zeitstabil</a:t>
            </a:r>
            <a:r>
              <a:rPr lang="en-US" dirty="0">
                <a:solidFill>
                  <a:srgbClr val="FFFFFF"/>
                </a:solidFill>
              </a:rPr>
              <a:t> und </a:t>
            </a:r>
            <a:r>
              <a:rPr lang="en-US" b="1" dirty="0">
                <a:solidFill>
                  <a:srgbClr val="FFFFFF"/>
                </a:solidFill>
              </a:rPr>
              <a:t>situationsuebergreifend</a:t>
            </a:r>
            <a:r>
              <a:rPr lang="en-US" dirty="0">
                <a:solidFill>
                  <a:srgbClr val="FFFFFF"/>
                </a:solidFill>
              </a:rPr>
              <a:t> sind.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0398A-F8FF-1CBE-C83B-9D0E5F5C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3EAD5C-A512-EA87-0C7D-B8A0494ACB6E}"/>
              </a:ext>
            </a:extLst>
          </p:cNvPr>
          <p:cNvSpPr/>
          <p:nvPr/>
        </p:nvSpPr>
        <p:spPr>
          <a:xfrm>
            <a:off x="484632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B5A7C"/>
                </a:solidFill>
              </a:rPr>
              <a:t>Persönlichkeitsmerkmale</a:t>
            </a:r>
            <a:r>
              <a:rPr lang="en-US" sz="2800" b="1" dirty="0">
                <a:solidFill>
                  <a:srgbClr val="2B5A7C"/>
                </a:solidFill>
              </a:rPr>
              <a:t> (Traits)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BDC2B-BD99-629F-8917-69EB65E996F9}"/>
              </a:ext>
            </a:extLst>
          </p:cNvPr>
          <p:cNvSpPr/>
          <p:nvPr/>
        </p:nvSpPr>
        <p:spPr>
          <a:xfrm>
            <a:off x="457200" y="914400"/>
            <a:ext cx="41148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634C01-54FF-04FD-4E17-68465C3D2E26}"/>
              </a:ext>
            </a:extLst>
          </p:cNvPr>
          <p:cNvSpPr/>
          <p:nvPr/>
        </p:nvSpPr>
        <p:spPr>
          <a:xfrm>
            <a:off x="594360" y="10058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Traits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sind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Wesenzüge</a:t>
            </a:r>
            <a:r>
              <a:rPr lang="en-US" dirty="0">
                <a:solidFill>
                  <a:srgbClr val="FFFFFF"/>
                </a:solidFill>
              </a:rPr>
              <a:t> einer Person, die </a:t>
            </a:r>
            <a:r>
              <a:rPr lang="en-US" b="1" dirty="0">
                <a:solidFill>
                  <a:srgbClr val="FFFFFF"/>
                </a:solidFill>
              </a:rPr>
              <a:t>relativ zeitstabil</a:t>
            </a:r>
            <a:r>
              <a:rPr lang="en-US" dirty="0">
                <a:solidFill>
                  <a:srgbClr val="FFFFFF"/>
                </a:solidFill>
              </a:rPr>
              <a:t> und </a:t>
            </a:r>
            <a:r>
              <a:rPr lang="en-US" b="1" dirty="0">
                <a:solidFill>
                  <a:srgbClr val="FFFFFF"/>
                </a:solidFill>
              </a:rPr>
              <a:t>situationsuebergreifend</a:t>
            </a:r>
            <a:r>
              <a:rPr lang="en-US" dirty="0">
                <a:solidFill>
                  <a:srgbClr val="FFFFFF"/>
                </a:solidFill>
              </a:rPr>
              <a:t> sind.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62C9D1-3D60-0589-FFEF-3AF97E1BC0BA}"/>
              </a:ext>
            </a:extLst>
          </p:cNvPr>
          <p:cNvSpPr/>
          <p:nvPr/>
        </p:nvSpPr>
        <p:spPr>
          <a:xfrm>
            <a:off x="457200" y="1965959"/>
            <a:ext cx="4114800" cy="1526177"/>
          </a:xfrm>
          <a:prstGeom prst="round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E921FC-19FC-0DA0-B360-C36F222EE91E}"/>
              </a:ext>
            </a:extLst>
          </p:cNvPr>
          <p:cNvSpPr/>
          <p:nvPr/>
        </p:nvSpPr>
        <p:spPr>
          <a:xfrm>
            <a:off x="59436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93B"/>
                </a:solidFill>
              </a:rPr>
              <a:t>Beispiele</a:t>
            </a:r>
            <a:r>
              <a:rPr lang="en-US" b="1" dirty="0">
                <a:solidFill>
                  <a:srgbClr val="1E293B"/>
                </a:solidFill>
              </a:rPr>
              <a:t> für Traits: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482BBA-5091-457C-AC84-E0DDC2E56436}"/>
              </a:ext>
            </a:extLst>
          </p:cNvPr>
          <p:cNvSpPr/>
          <p:nvPr/>
        </p:nvSpPr>
        <p:spPr>
          <a:xfrm>
            <a:off x="594360" y="2514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Gewissenhaftigkeit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</a:t>
            </a:r>
            <a:r>
              <a:rPr lang="en-US" dirty="0" err="1">
                <a:solidFill>
                  <a:srgbClr val="64748B"/>
                </a:solidFill>
              </a:rPr>
              <a:t>Ängstlichkeit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Geselligkeit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</a:t>
            </a:r>
            <a:r>
              <a:rPr lang="en-US" dirty="0" err="1">
                <a:solidFill>
                  <a:srgbClr val="64748B"/>
                </a:solidFill>
              </a:rPr>
              <a:t>Kreativität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856865-CF17-8294-7AF1-50089EC2B95D}"/>
              </a:ext>
            </a:extLst>
          </p:cNvPr>
          <p:cNvSpPr/>
          <p:nvPr/>
        </p:nvSpPr>
        <p:spPr>
          <a:xfrm>
            <a:off x="457200" y="3817620"/>
            <a:ext cx="411480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73509D-BDDF-4246-3E91-C3996BA9A481}"/>
              </a:ext>
            </a:extLst>
          </p:cNvPr>
          <p:cNvSpPr/>
          <p:nvPr/>
        </p:nvSpPr>
        <p:spPr>
          <a:xfrm>
            <a:off x="457200" y="381762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044FAD-F53C-A79E-1D11-9FF5DAFF3FAD}"/>
              </a:ext>
            </a:extLst>
          </p:cNvPr>
          <p:cNvSpPr/>
          <p:nvPr/>
        </p:nvSpPr>
        <p:spPr>
          <a:xfrm>
            <a:off x="594360" y="39090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Achtung: </a:t>
            </a:r>
            <a:r>
              <a:rPr lang="en-US" sz="1200" dirty="0">
                <a:solidFill>
                  <a:srgbClr val="1E293B"/>
                </a:solidFill>
              </a:rPr>
              <a:t>Die </a:t>
            </a:r>
            <a:r>
              <a:rPr lang="en-US" sz="1200" dirty="0" err="1">
                <a:solidFill>
                  <a:srgbClr val="1E293B"/>
                </a:solidFill>
              </a:rPr>
              <a:t>Persönlichkeitsstruktur</a:t>
            </a:r>
            <a:r>
              <a:rPr lang="en-US" sz="1200" dirty="0">
                <a:solidFill>
                  <a:srgbClr val="1E293B"/>
                </a:solidFill>
              </a:rPr>
              <a:t> kann nicht direkt beobachtet werden - sie wird aus dem Verhalten erschlossen.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89240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8B2A2-6791-2E02-3566-92245B3A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9F94ED-F983-BFC7-2E22-E8BA60B0DAED}"/>
              </a:ext>
            </a:extLst>
          </p:cNvPr>
          <p:cNvSpPr/>
          <p:nvPr/>
        </p:nvSpPr>
        <p:spPr>
          <a:xfrm>
            <a:off x="484632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2B5A7C"/>
                </a:solidFill>
              </a:rPr>
              <a:t>Persönlichkeitsmerkmale</a:t>
            </a:r>
            <a:r>
              <a:rPr lang="en-US" sz="2800" b="1" dirty="0">
                <a:solidFill>
                  <a:srgbClr val="2B5A7C"/>
                </a:solidFill>
              </a:rPr>
              <a:t> (Traits)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1F68D2-F2B6-06EA-E478-654CABCC4D6A}"/>
              </a:ext>
            </a:extLst>
          </p:cNvPr>
          <p:cNvSpPr/>
          <p:nvPr/>
        </p:nvSpPr>
        <p:spPr>
          <a:xfrm>
            <a:off x="457200" y="914400"/>
            <a:ext cx="4114800" cy="91440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380DC03-A763-23C5-C6E1-9079E4461935}"/>
              </a:ext>
            </a:extLst>
          </p:cNvPr>
          <p:cNvSpPr/>
          <p:nvPr/>
        </p:nvSpPr>
        <p:spPr>
          <a:xfrm>
            <a:off x="594360" y="10058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Traits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sind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Wesenzüge</a:t>
            </a:r>
            <a:r>
              <a:rPr lang="en-US" dirty="0">
                <a:solidFill>
                  <a:srgbClr val="FFFFFF"/>
                </a:solidFill>
              </a:rPr>
              <a:t> einer Person, die </a:t>
            </a:r>
            <a:r>
              <a:rPr lang="en-US" b="1" dirty="0">
                <a:solidFill>
                  <a:srgbClr val="FFFFFF"/>
                </a:solidFill>
              </a:rPr>
              <a:t>relativ zeitstabil</a:t>
            </a:r>
            <a:r>
              <a:rPr lang="en-US" dirty="0">
                <a:solidFill>
                  <a:srgbClr val="FFFFFF"/>
                </a:solidFill>
              </a:rPr>
              <a:t> und </a:t>
            </a:r>
            <a:r>
              <a:rPr lang="en-US" b="1" dirty="0">
                <a:solidFill>
                  <a:srgbClr val="FFFFFF"/>
                </a:solidFill>
              </a:rPr>
              <a:t>situationsuebergreifend</a:t>
            </a:r>
            <a:r>
              <a:rPr lang="en-US" dirty="0">
                <a:solidFill>
                  <a:srgbClr val="FFFFFF"/>
                </a:solidFill>
              </a:rPr>
              <a:t> sind.</a:t>
            </a: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FB6376-6A79-86A5-2D4F-4BE8A51586B0}"/>
              </a:ext>
            </a:extLst>
          </p:cNvPr>
          <p:cNvSpPr/>
          <p:nvPr/>
        </p:nvSpPr>
        <p:spPr>
          <a:xfrm>
            <a:off x="457200" y="1965959"/>
            <a:ext cx="4114800" cy="1526177"/>
          </a:xfrm>
          <a:prstGeom prst="round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E2ABBE-46E4-7DE0-CF39-D3858848AE3D}"/>
              </a:ext>
            </a:extLst>
          </p:cNvPr>
          <p:cNvSpPr/>
          <p:nvPr/>
        </p:nvSpPr>
        <p:spPr>
          <a:xfrm>
            <a:off x="594360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E293B"/>
                </a:solidFill>
              </a:rPr>
              <a:t>Beispiele</a:t>
            </a:r>
            <a:r>
              <a:rPr lang="en-US" b="1" dirty="0">
                <a:solidFill>
                  <a:srgbClr val="1E293B"/>
                </a:solidFill>
              </a:rPr>
              <a:t> für Traits:</a:t>
            </a: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7074EC-50F4-D12F-47EB-C6B24A3BF0AE}"/>
              </a:ext>
            </a:extLst>
          </p:cNvPr>
          <p:cNvSpPr/>
          <p:nvPr/>
        </p:nvSpPr>
        <p:spPr>
          <a:xfrm>
            <a:off x="594360" y="2514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Gewissenhaftigkeit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</a:t>
            </a:r>
            <a:r>
              <a:rPr lang="en-US" dirty="0" err="1">
                <a:solidFill>
                  <a:srgbClr val="64748B"/>
                </a:solidFill>
              </a:rPr>
              <a:t>Ängstlichkeit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Geselligkeit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• </a:t>
            </a:r>
            <a:r>
              <a:rPr lang="en-US" dirty="0" err="1">
                <a:solidFill>
                  <a:srgbClr val="64748B"/>
                </a:solidFill>
              </a:rPr>
              <a:t>Kreativität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30CF72-1FF4-9DD6-859B-7BA6639D2DAC}"/>
              </a:ext>
            </a:extLst>
          </p:cNvPr>
          <p:cNvSpPr/>
          <p:nvPr/>
        </p:nvSpPr>
        <p:spPr>
          <a:xfrm>
            <a:off x="457200" y="3817620"/>
            <a:ext cx="4114800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 sz="3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F159C32-EE5E-8354-E39B-B4DBE9DD3BF5}"/>
              </a:ext>
            </a:extLst>
          </p:cNvPr>
          <p:cNvSpPr/>
          <p:nvPr/>
        </p:nvSpPr>
        <p:spPr>
          <a:xfrm>
            <a:off x="457200" y="381762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70725B-5C25-1309-2EFA-4F6DE13CD6F6}"/>
              </a:ext>
            </a:extLst>
          </p:cNvPr>
          <p:cNvSpPr/>
          <p:nvPr/>
        </p:nvSpPr>
        <p:spPr>
          <a:xfrm>
            <a:off x="594360" y="39090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Achtung: </a:t>
            </a:r>
            <a:r>
              <a:rPr lang="en-US" sz="1200" dirty="0">
                <a:solidFill>
                  <a:srgbClr val="1E293B"/>
                </a:solidFill>
              </a:rPr>
              <a:t>Die </a:t>
            </a:r>
            <a:r>
              <a:rPr lang="en-US" sz="1200" dirty="0" err="1">
                <a:solidFill>
                  <a:srgbClr val="1E293B"/>
                </a:solidFill>
              </a:rPr>
              <a:t>Persönlichkeitsstruktur</a:t>
            </a:r>
            <a:r>
              <a:rPr lang="en-US" sz="1200" dirty="0">
                <a:solidFill>
                  <a:srgbClr val="1E293B"/>
                </a:solidFill>
              </a:rPr>
              <a:t> kann nicht direkt beobachtet werden - sie wird aus dem Verhalten erschlossen.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B8DF2A3-8CB1-E09E-2547-CE241F93BDFF}"/>
              </a:ext>
            </a:extLst>
          </p:cNvPr>
          <p:cNvSpPr/>
          <p:nvPr/>
        </p:nvSpPr>
        <p:spPr>
          <a:xfrm>
            <a:off x="4754880" y="714103"/>
            <a:ext cx="3931920" cy="3514997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B941BD-0798-8242-DE81-218D349E4780}"/>
              </a:ext>
            </a:extLst>
          </p:cNvPr>
          <p:cNvSpPr/>
          <p:nvPr/>
        </p:nvSpPr>
        <p:spPr>
          <a:xfrm>
            <a:off x="4937760" y="914400"/>
            <a:ext cx="37708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Gordon Allport (1897-1967)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A31A491-B49C-B798-8781-59467376F24B}"/>
              </a:ext>
            </a:extLst>
          </p:cNvPr>
          <p:cNvSpPr/>
          <p:nvPr/>
        </p:nvSpPr>
        <p:spPr>
          <a:xfrm>
            <a:off x="493776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</a:rPr>
              <a:t>Begründer</a:t>
            </a:r>
            <a:r>
              <a:rPr lang="en-US" sz="1100" dirty="0">
                <a:solidFill>
                  <a:srgbClr val="64748B"/>
                </a:solidFill>
              </a:rPr>
              <a:t> der </a:t>
            </a:r>
            <a:r>
              <a:rPr lang="en-US" sz="1100" dirty="0" err="1">
                <a:solidFill>
                  <a:srgbClr val="64748B"/>
                </a:solidFill>
              </a:rPr>
              <a:t>modernen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en-US" sz="1100" dirty="0" err="1">
                <a:solidFill>
                  <a:srgbClr val="64748B"/>
                </a:solidFill>
              </a:rPr>
              <a:t>Persönlichkeitspsychologie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D9AE083-74E7-EFDC-677E-7D4DF6660D9E}"/>
              </a:ext>
            </a:extLst>
          </p:cNvPr>
          <p:cNvSpPr/>
          <p:nvPr/>
        </p:nvSpPr>
        <p:spPr>
          <a:xfrm>
            <a:off x="49377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Fand </a:t>
            </a:r>
            <a:r>
              <a:rPr lang="en-US" sz="1600" dirty="0" err="1">
                <a:solidFill>
                  <a:srgbClr val="1E293B"/>
                </a:solidFill>
              </a:rPr>
              <a:t>im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Wörterbuch</a:t>
            </a:r>
            <a:r>
              <a:rPr lang="en-US" sz="1600" dirty="0">
                <a:solidFill>
                  <a:srgbClr val="1E293B"/>
                </a:solidFill>
              </a:rPr>
              <a:t> ca. </a:t>
            </a:r>
            <a:r>
              <a:rPr lang="en-US" sz="1600" b="1" dirty="0">
                <a:solidFill>
                  <a:srgbClr val="F97316"/>
                </a:solidFill>
              </a:rPr>
              <a:t>4.500 </a:t>
            </a:r>
            <a:r>
              <a:rPr lang="en-US" sz="1600" b="1" dirty="0" err="1">
                <a:solidFill>
                  <a:srgbClr val="F97316"/>
                </a:solidFill>
              </a:rPr>
              <a:t>Begriffe</a:t>
            </a:r>
            <a:r>
              <a:rPr lang="en-US" sz="1600" dirty="0">
                <a:solidFill>
                  <a:srgbClr val="1E293B"/>
                </a:solidFill>
              </a:rPr>
              <a:t> für </a:t>
            </a:r>
            <a:r>
              <a:rPr lang="en-US" sz="1600" dirty="0" err="1">
                <a:solidFill>
                  <a:srgbClr val="1E293B"/>
                </a:solidFill>
              </a:rPr>
              <a:t>Persönlichkeitseigenschaften</a:t>
            </a:r>
            <a:r>
              <a:rPr lang="en-US" sz="1600" dirty="0">
                <a:solidFill>
                  <a:srgbClr val="1E293B"/>
                </a:solidFill>
              </a:rPr>
              <a:t>!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7A2A9A-77F7-100F-25F6-24AA17A0E506}"/>
              </a:ext>
            </a:extLst>
          </p:cNvPr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Drei Arten von Traits: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0C7641-44E0-53D9-9562-4DF0D457FE06}"/>
              </a:ext>
            </a:extLst>
          </p:cNvPr>
          <p:cNvSpPr/>
          <p:nvPr/>
        </p:nvSpPr>
        <p:spPr>
          <a:xfrm>
            <a:off x="4937760" y="2423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Kardinale Traits
</a:t>
            </a:r>
            <a:r>
              <a:rPr lang="en-US" sz="1200" dirty="0">
                <a:solidFill>
                  <a:srgbClr val="64748B"/>
                </a:solidFill>
              </a:rPr>
              <a:t>Eine dominierende Eigenschaft (selten)
</a:t>
            </a:r>
            <a:r>
              <a:rPr lang="en-US" sz="1400" b="1" dirty="0">
                <a:solidFill>
                  <a:srgbClr val="1E293B"/>
                </a:solidFill>
              </a:rPr>
              <a:t>Zentrale Traits
</a:t>
            </a:r>
            <a:r>
              <a:rPr lang="en-US" sz="1200" dirty="0">
                <a:solidFill>
                  <a:srgbClr val="64748B"/>
                </a:solidFill>
              </a:rPr>
              <a:t>5-10 charakterisierende Eigenschaften
</a:t>
            </a:r>
            <a:r>
              <a:rPr lang="en-US" sz="1400" b="1" dirty="0" err="1">
                <a:solidFill>
                  <a:srgbClr val="1E293B"/>
                </a:solidFill>
              </a:rPr>
              <a:t>Sekundäre</a:t>
            </a:r>
            <a:r>
              <a:rPr lang="en-US" sz="1400" b="1" dirty="0">
                <a:solidFill>
                  <a:srgbClr val="1E293B"/>
                </a:solidFill>
              </a:rPr>
              <a:t> Traits
</a:t>
            </a:r>
            <a:r>
              <a:rPr lang="en-US" sz="1200" dirty="0">
                <a:solidFill>
                  <a:srgbClr val="64748B"/>
                </a:solidFill>
              </a:rPr>
              <a:t>Situationsspezifische Tendenzen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7615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509" y="274320"/>
            <a:ext cx="83732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5A7C"/>
                </a:solidFill>
              </a:rPr>
              <a:t>Von 4.500 </a:t>
            </a:r>
            <a:r>
              <a:rPr lang="en-US" sz="3200" b="1" dirty="0" err="1">
                <a:solidFill>
                  <a:srgbClr val="2B5A7C"/>
                </a:solidFill>
              </a:rPr>
              <a:t>Begriffen</a:t>
            </a:r>
            <a:r>
              <a:rPr lang="en-US" sz="3200" b="1" dirty="0">
                <a:solidFill>
                  <a:srgbClr val="2B5A7C"/>
                </a:solidFill>
              </a:rPr>
              <a:t> </a:t>
            </a:r>
            <a:r>
              <a:rPr lang="en-US" sz="3200" b="1" dirty="0" err="1">
                <a:solidFill>
                  <a:srgbClr val="2B5A7C"/>
                </a:solidFill>
              </a:rPr>
              <a:t>zu</a:t>
            </a:r>
            <a:r>
              <a:rPr lang="en-US" sz="3200" b="1" dirty="0">
                <a:solidFill>
                  <a:srgbClr val="2B5A7C"/>
                </a:solidFill>
              </a:rPr>
              <a:t> </a:t>
            </a:r>
            <a:r>
              <a:rPr lang="en-US" sz="3200" b="1" dirty="0" err="1">
                <a:solidFill>
                  <a:srgbClr val="2B5A7C"/>
                </a:solidFill>
              </a:rPr>
              <a:t>konkreten</a:t>
            </a:r>
            <a:r>
              <a:rPr lang="en-US" sz="3200" b="1" dirty="0">
                <a:solidFill>
                  <a:srgbClr val="2B5A7C"/>
                </a:solidFill>
              </a:rPr>
              <a:t> “</a:t>
            </a:r>
            <a:r>
              <a:rPr lang="en-US" sz="3200" b="1" dirty="0" err="1">
                <a:solidFill>
                  <a:srgbClr val="2B5A7C"/>
                </a:solidFill>
              </a:rPr>
              <a:t>Faktoren</a:t>
            </a:r>
            <a:r>
              <a:rPr lang="en-US" sz="3200" b="1" dirty="0">
                <a:solidFill>
                  <a:srgbClr val="2B5A7C"/>
                </a:solidFill>
              </a:rPr>
              <a:t>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2825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Die </a:t>
            </a:r>
            <a:r>
              <a:rPr lang="en-US" dirty="0" err="1">
                <a:solidFill>
                  <a:srgbClr val="64748B"/>
                </a:solidFill>
              </a:rPr>
              <a:t>Faktorenanalyse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64008" cy="59436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Faktorenanalyse: </a:t>
            </a:r>
            <a:r>
              <a:rPr lang="en-US" sz="1600" dirty="0">
                <a:solidFill>
                  <a:srgbClr val="1E293B"/>
                </a:solidFill>
              </a:rPr>
              <a:t>Ein statistisches Verfahren, das viele Variablen auf wenige grundlegende </a:t>
            </a:r>
            <a:r>
              <a:rPr lang="en-US" sz="1600" b="1" dirty="0" err="1">
                <a:solidFill>
                  <a:srgbClr val="1E293B"/>
                </a:solidFill>
              </a:rPr>
              <a:t>Faktoren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zurückführt</a:t>
            </a:r>
            <a:r>
              <a:rPr lang="en-US" sz="1600" dirty="0">
                <a:solidFill>
                  <a:srgbClr val="1E293B"/>
                </a:solidFill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B098-B762-4F5D-7F80-304F10BFA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523AB5-6415-177C-BD40-8461782BB83B}"/>
              </a:ext>
            </a:extLst>
          </p:cNvPr>
          <p:cNvSpPr/>
          <p:nvPr/>
        </p:nvSpPr>
        <p:spPr>
          <a:xfrm>
            <a:off x="313509" y="274320"/>
            <a:ext cx="83732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5A7C"/>
                </a:solidFill>
              </a:rPr>
              <a:t>Von 4.500 </a:t>
            </a:r>
            <a:r>
              <a:rPr lang="en-US" sz="3200" b="1" dirty="0" err="1">
                <a:solidFill>
                  <a:srgbClr val="2B5A7C"/>
                </a:solidFill>
              </a:rPr>
              <a:t>Begriffen</a:t>
            </a:r>
            <a:r>
              <a:rPr lang="en-US" sz="3200" b="1" dirty="0">
                <a:solidFill>
                  <a:srgbClr val="2B5A7C"/>
                </a:solidFill>
              </a:rPr>
              <a:t> </a:t>
            </a:r>
            <a:r>
              <a:rPr lang="en-US" sz="3200" b="1" dirty="0" err="1">
                <a:solidFill>
                  <a:srgbClr val="2B5A7C"/>
                </a:solidFill>
              </a:rPr>
              <a:t>zu</a:t>
            </a:r>
            <a:r>
              <a:rPr lang="en-US" sz="3200" b="1" dirty="0">
                <a:solidFill>
                  <a:srgbClr val="2B5A7C"/>
                </a:solidFill>
              </a:rPr>
              <a:t> </a:t>
            </a:r>
            <a:r>
              <a:rPr lang="en-US" sz="3200" b="1" dirty="0" err="1">
                <a:solidFill>
                  <a:srgbClr val="2B5A7C"/>
                </a:solidFill>
              </a:rPr>
              <a:t>konkreten</a:t>
            </a:r>
            <a:r>
              <a:rPr lang="en-US" sz="3200" b="1" dirty="0">
                <a:solidFill>
                  <a:srgbClr val="2B5A7C"/>
                </a:solidFill>
              </a:rPr>
              <a:t> “</a:t>
            </a:r>
            <a:r>
              <a:rPr lang="en-US" sz="3200" b="1" dirty="0" err="1">
                <a:solidFill>
                  <a:srgbClr val="2B5A7C"/>
                </a:solidFill>
              </a:rPr>
              <a:t>Faktoren</a:t>
            </a:r>
            <a:r>
              <a:rPr lang="en-US" sz="3200" b="1" dirty="0">
                <a:solidFill>
                  <a:srgbClr val="2B5A7C"/>
                </a:solidFill>
              </a:rPr>
              <a:t>”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461668-25E8-9727-7B6F-7FECB5D2818A}"/>
              </a:ext>
            </a:extLst>
          </p:cNvPr>
          <p:cNvSpPr/>
          <p:nvPr/>
        </p:nvSpPr>
        <p:spPr>
          <a:xfrm>
            <a:off x="457200" y="72825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Die </a:t>
            </a:r>
            <a:r>
              <a:rPr lang="en-US" dirty="0" err="1">
                <a:solidFill>
                  <a:srgbClr val="64748B"/>
                </a:solidFill>
              </a:rPr>
              <a:t>Faktorenanalyse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81AC81D-B722-CB39-169F-5B5575123CDA}"/>
              </a:ext>
            </a:extLst>
          </p:cNvPr>
          <p:cNvSpPr/>
          <p:nvPr/>
        </p:nvSpPr>
        <p:spPr>
          <a:xfrm>
            <a:off x="457200" y="1051560"/>
            <a:ext cx="8229600" cy="59436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24AAF7-AA68-DBA0-0C51-5EB4FB13E22B}"/>
              </a:ext>
            </a:extLst>
          </p:cNvPr>
          <p:cNvSpPr/>
          <p:nvPr/>
        </p:nvSpPr>
        <p:spPr>
          <a:xfrm>
            <a:off x="457200" y="1051560"/>
            <a:ext cx="64008" cy="59436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D4D3CE-32CA-7FA1-3467-A4ABD3B8367F}"/>
              </a:ext>
            </a:extLst>
          </p:cNvPr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Faktorenanalyse: </a:t>
            </a:r>
            <a:r>
              <a:rPr lang="en-US" sz="1600" dirty="0">
                <a:solidFill>
                  <a:srgbClr val="1E293B"/>
                </a:solidFill>
              </a:rPr>
              <a:t>Ein statistisches Verfahren, das viele Variablen auf wenige grundlegende </a:t>
            </a:r>
            <a:r>
              <a:rPr lang="en-US" sz="1600" b="1" dirty="0" err="1">
                <a:solidFill>
                  <a:srgbClr val="1E293B"/>
                </a:solidFill>
              </a:rPr>
              <a:t>Faktoren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zurückführt</a:t>
            </a:r>
            <a:r>
              <a:rPr lang="en-US" sz="1600" dirty="0">
                <a:solidFill>
                  <a:srgbClr val="1E293B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6AC7F2-31FA-D0EE-D5D0-C17F620D5319}"/>
              </a:ext>
            </a:extLst>
          </p:cNvPr>
          <p:cNvSpPr/>
          <p:nvPr/>
        </p:nvSpPr>
        <p:spPr>
          <a:xfrm>
            <a:off x="222069" y="1844040"/>
            <a:ext cx="2286000" cy="128016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817FF0-0241-5646-1CB1-8E7767425B9C}"/>
              </a:ext>
            </a:extLst>
          </p:cNvPr>
          <p:cNvSpPr/>
          <p:nvPr/>
        </p:nvSpPr>
        <p:spPr>
          <a:xfrm>
            <a:off x="222069" y="1935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1.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B0614D5-1600-2C34-1BEE-8951A03FEE4B}"/>
              </a:ext>
            </a:extLst>
          </p:cNvPr>
          <p:cNvSpPr/>
          <p:nvPr/>
        </p:nvSpPr>
        <p:spPr>
          <a:xfrm>
            <a:off x="313509" y="2346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Viele Menschen bewerten sich auf zahlreichen Eigenschaften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6FC37A-BBBE-5661-3B0E-45F4D54219F9}"/>
              </a:ext>
            </a:extLst>
          </p:cNvPr>
          <p:cNvSpPr/>
          <p:nvPr/>
        </p:nvSpPr>
        <p:spPr>
          <a:xfrm>
            <a:off x="2508069" y="2301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7967F3B-7D3B-2E64-43C9-D532F783429B}"/>
              </a:ext>
            </a:extLst>
          </p:cNvPr>
          <p:cNvSpPr/>
          <p:nvPr/>
        </p:nvSpPr>
        <p:spPr>
          <a:xfrm>
            <a:off x="2782389" y="1844040"/>
            <a:ext cx="2286000" cy="128016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B4CF41-24B6-E70E-F4BF-22C91A5C092F}"/>
              </a:ext>
            </a:extLst>
          </p:cNvPr>
          <p:cNvSpPr/>
          <p:nvPr/>
        </p:nvSpPr>
        <p:spPr>
          <a:xfrm>
            <a:off x="2782389" y="1935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2.</a:t>
            </a:r>
            <a:endParaRPr lang="en-US" sz="3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9A49A5-63B2-FEE6-3A99-1E7D99631787}"/>
              </a:ext>
            </a:extLst>
          </p:cNvPr>
          <p:cNvSpPr/>
          <p:nvPr/>
        </p:nvSpPr>
        <p:spPr>
          <a:xfrm>
            <a:off x="2873829" y="2346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Computer berechnet, welche Eigenschaften korrelieren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019697C-A05E-69C4-58AA-6A94B4C22175}"/>
              </a:ext>
            </a:extLst>
          </p:cNvPr>
          <p:cNvSpPr/>
          <p:nvPr/>
        </p:nvSpPr>
        <p:spPr>
          <a:xfrm>
            <a:off x="5068389" y="2301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1314A15-85FA-8A1A-F3BB-AC1894D1C590}"/>
              </a:ext>
            </a:extLst>
          </p:cNvPr>
          <p:cNvSpPr/>
          <p:nvPr/>
        </p:nvSpPr>
        <p:spPr>
          <a:xfrm>
            <a:off x="5342709" y="1844040"/>
            <a:ext cx="2286000" cy="128016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2932366-2F4C-D8FB-8F6A-246615E543C4}"/>
              </a:ext>
            </a:extLst>
          </p:cNvPr>
          <p:cNvSpPr/>
          <p:nvPr/>
        </p:nvSpPr>
        <p:spPr>
          <a:xfrm>
            <a:off x="5342709" y="1935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3.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D1C25AC-0352-4128-7065-E916E42D5638}"/>
              </a:ext>
            </a:extLst>
          </p:cNvPr>
          <p:cNvSpPr/>
          <p:nvPr/>
        </p:nvSpPr>
        <p:spPr>
          <a:xfrm>
            <a:off x="5434149" y="2346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Eigenschaften werden zu Faktoren zusammengefasst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F066F16-EAB3-1C86-0B03-7482F774D333}"/>
              </a:ext>
            </a:extLst>
          </p:cNvPr>
          <p:cNvSpPr/>
          <p:nvPr/>
        </p:nvSpPr>
        <p:spPr>
          <a:xfrm>
            <a:off x="7857309" y="1844040"/>
            <a:ext cx="914400" cy="1280160"/>
          </a:xfrm>
          <a:prstGeom prst="round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A3DD0D5-82BF-F9E0-D1DE-FCB4CC2DF6F2}"/>
              </a:ext>
            </a:extLst>
          </p:cNvPr>
          <p:cNvSpPr/>
          <p:nvPr/>
        </p:nvSpPr>
        <p:spPr>
          <a:xfrm>
            <a:off x="7879080" y="1952897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= X</a:t>
            </a:r>
            <a:endParaRPr lang="en-US" sz="4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27A2D48-D684-B4FA-0797-2EF64CF1D71A}"/>
              </a:ext>
            </a:extLst>
          </p:cNvPr>
          <p:cNvSpPr/>
          <p:nvPr/>
        </p:nvSpPr>
        <p:spPr>
          <a:xfrm>
            <a:off x="7916091" y="24590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Faktoren</a:t>
            </a:r>
            <a:endParaRPr lang="en-US" sz="14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103EF9AE-8EEE-1797-6579-290E1B220E48}"/>
              </a:ext>
            </a:extLst>
          </p:cNvPr>
          <p:cNvSpPr/>
          <p:nvPr/>
        </p:nvSpPr>
        <p:spPr>
          <a:xfrm>
            <a:off x="7582989" y="2301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1073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7A8E-0D07-2FAA-A62B-E931589E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935B270-3FAA-9D1F-9A73-1EB94B7FA9C1}"/>
              </a:ext>
            </a:extLst>
          </p:cNvPr>
          <p:cNvSpPr/>
          <p:nvPr/>
        </p:nvSpPr>
        <p:spPr>
          <a:xfrm>
            <a:off x="313509" y="274320"/>
            <a:ext cx="83732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5A7C"/>
                </a:solidFill>
              </a:rPr>
              <a:t>Von 4.500 </a:t>
            </a:r>
            <a:r>
              <a:rPr lang="en-US" sz="3200" b="1" dirty="0" err="1">
                <a:solidFill>
                  <a:srgbClr val="2B5A7C"/>
                </a:solidFill>
              </a:rPr>
              <a:t>Begriffen</a:t>
            </a:r>
            <a:r>
              <a:rPr lang="en-US" sz="3200" b="1" dirty="0">
                <a:solidFill>
                  <a:srgbClr val="2B5A7C"/>
                </a:solidFill>
              </a:rPr>
              <a:t> </a:t>
            </a:r>
            <a:r>
              <a:rPr lang="en-US" sz="3200" b="1" dirty="0" err="1">
                <a:solidFill>
                  <a:srgbClr val="2B5A7C"/>
                </a:solidFill>
              </a:rPr>
              <a:t>zu</a:t>
            </a:r>
            <a:r>
              <a:rPr lang="en-US" sz="3200" b="1" dirty="0">
                <a:solidFill>
                  <a:srgbClr val="2B5A7C"/>
                </a:solidFill>
              </a:rPr>
              <a:t> </a:t>
            </a:r>
            <a:r>
              <a:rPr lang="en-US" sz="3200" b="1" dirty="0" err="1">
                <a:solidFill>
                  <a:srgbClr val="2B5A7C"/>
                </a:solidFill>
              </a:rPr>
              <a:t>konkreten</a:t>
            </a:r>
            <a:r>
              <a:rPr lang="en-US" sz="3200" b="1" dirty="0">
                <a:solidFill>
                  <a:srgbClr val="2B5A7C"/>
                </a:solidFill>
              </a:rPr>
              <a:t> “</a:t>
            </a:r>
            <a:r>
              <a:rPr lang="en-US" sz="3200" b="1" dirty="0" err="1">
                <a:solidFill>
                  <a:srgbClr val="2B5A7C"/>
                </a:solidFill>
              </a:rPr>
              <a:t>Faktoren</a:t>
            </a:r>
            <a:r>
              <a:rPr lang="en-US" sz="3200" b="1" dirty="0">
                <a:solidFill>
                  <a:srgbClr val="2B5A7C"/>
                </a:solidFill>
              </a:rPr>
              <a:t>”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C37169-C153-293D-20E1-87C0C81A335C}"/>
              </a:ext>
            </a:extLst>
          </p:cNvPr>
          <p:cNvSpPr/>
          <p:nvPr/>
        </p:nvSpPr>
        <p:spPr>
          <a:xfrm>
            <a:off x="457200" y="72825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</a:rPr>
              <a:t>Die </a:t>
            </a:r>
            <a:r>
              <a:rPr lang="en-US" dirty="0" err="1">
                <a:solidFill>
                  <a:srgbClr val="64748B"/>
                </a:solidFill>
              </a:rPr>
              <a:t>Faktorenanalyse</a:t>
            </a: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32CC7E-F65D-2C48-5792-4369F929388D}"/>
              </a:ext>
            </a:extLst>
          </p:cNvPr>
          <p:cNvSpPr/>
          <p:nvPr/>
        </p:nvSpPr>
        <p:spPr>
          <a:xfrm>
            <a:off x="457200" y="1051560"/>
            <a:ext cx="8229600" cy="59436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0C4799-D85D-4A88-254D-31B11C0380E1}"/>
              </a:ext>
            </a:extLst>
          </p:cNvPr>
          <p:cNvSpPr/>
          <p:nvPr/>
        </p:nvSpPr>
        <p:spPr>
          <a:xfrm>
            <a:off x="457200" y="1051560"/>
            <a:ext cx="64008" cy="594360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04D1C4-AB2C-BAC9-B106-055E58B657B2}"/>
              </a:ext>
            </a:extLst>
          </p:cNvPr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Faktorenanalyse: </a:t>
            </a:r>
            <a:r>
              <a:rPr lang="en-US" sz="1600" dirty="0">
                <a:solidFill>
                  <a:srgbClr val="1E293B"/>
                </a:solidFill>
              </a:rPr>
              <a:t>Ein statistisches Verfahren, das viele Variablen auf wenige grundlegende </a:t>
            </a:r>
            <a:r>
              <a:rPr lang="en-US" sz="1600" b="1" dirty="0" err="1">
                <a:solidFill>
                  <a:srgbClr val="1E293B"/>
                </a:solidFill>
              </a:rPr>
              <a:t>Faktoren</a:t>
            </a:r>
            <a:r>
              <a:rPr lang="en-US" sz="1600" dirty="0">
                <a:solidFill>
                  <a:srgbClr val="1E293B"/>
                </a:solidFill>
              </a:rPr>
              <a:t> </a:t>
            </a:r>
            <a:r>
              <a:rPr lang="en-US" sz="1600" dirty="0" err="1">
                <a:solidFill>
                  <a:srgbClr val="1E293B"/>
                </a:solidFill>
              </a:rPr>
              <a:t>zurückführt</a:t>
            </a:r>
            <a:r>
              <a:rPr lang="en-US" sz="1600" dirty="0">
                <a:solidFill>
                  <a:srgbClr val="1E293B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A49BF8-8598-E786-1C8E-557A93A73C55}"/>
              </a:ext>
            </a:extLst>
          </p:cNvPr>
          <p:cNvSpPr/>
          <p:nvPr/>
        </p:nvSpPr>
        <p:spPr>
          <a:xfrm>
            <a:off x="222069" y="1844040"/>
            <a:ext cx="2286000" cy="128016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7A7665-30A2-378A-D30E-3C3BA1088EAE}"/>
              </a:ext>
            </a:extLst>
          </p:cNvPr>
          <p:cNvSpPr/>
          <p:nvPr/>
        </p:nvSpPr>
        <p:spPr>
          <a:xfrm>
            <a:off x="222069" y="1935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1.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34AB99-EB48-FDC6-3975-CFB00E34B682}"/>
              </a:ext>
            </a:extLst>
          </p:cNvPr>
          <p:cNvSpPr/>
          <p:nvPr/>
        </p:nvSpPr>
        <p:spPr>
          <a:xfrm>
            <a:off x="313509" y="2346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Viele Menschen bewerten sich auf zahlreichen Eigenschaften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F00943-E551-1404-F8AF-546A8039187E}"/>
              </a:ext>
            </a:extLst>
          </p:cNvPr>
          <p:cNvSpPr/>
          <p:nvPr/>
        </p:nvSpPr>
        <p:spPr>
          <a:xfrm>
            <a:off x="2508069" y="2301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2D7887C-D942-D082-3028-41B0641F4082}"/>
              </a:ext>
            </a:extLst>
          </p:cNvPr>
          <p:cNvSpPr/>
          <p:nvPr/>
        </p:nvSpPr>
        <p:spPr>
          <a:xfrm>
            <a:off x="2782389" y="1844040"/>
            <a:ext cx="2286000" cy="128016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1EC666-220D-3B44-0F37-CB339559E2DB}"/>
              </a:ext>
            </a:extLst>
          </p:cNvPr>
          <p:cNvSpPr/>
          <p:nvPr/>
        </p:nvSpPr>
        <p:spPr>
          <a:xfrm>
            <a:off x="2782389" y="1935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2.</a:t>
            </a:r>
            <a:endParaRPr lang="en-US" sz="3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FAACFE-D9AA-4818-03C7-BA5BC272970D}"/>
              </a:ext>
            </a:extLst>
          </p:cNvPr>
          <p:cNvSpPr/>
          <p:nvPr/>
        </p:nvSpPr>
        <p:spPr>
          <a:xfrm>
            <a:off x="2873829" y="2346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Computer berechnet, welche Eigenschaften korrelieren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A405CF-35F6-FAD6-CE24-86744D5DC31A}"/>
              </a:ext>
            </a:extLst>
          </p:cNvPr>
          <p:cNvSpPr/>
          <p:nvPr/>
        </p:nvSpPr>
        <p:spPr>
          <a:xfrm>
            <a:off x="5068389" y="2301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E9DB7D8-21E6-0503-5F62-774E4B40808E}"/>
              </a:ext>
            </a:extLst>
          </p:cNvPr>
          <p:cNvSpPr/>
          <p:nvPr/>
        </p:nvSpPr>
        <p:spPr>
          <a:xfrm>
            <a:off x="5342709" y="1844040"/>
            <a:ext cx="2286000" cy="1280160"/>
          </a:xfrm>
          <a:prstGeom prst="round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93168E-028D-CCDE-323C-CC6C094599BA}"/>
              </a:ext>
            </a:extLst>
          </p:cNvPr>
          <p:cNvSpPr/>
          <p:nvPr/>
        </p:nvSpPr>
        <p:spPr>
          <a:xfrm>
            <a:off x="5342709" y="1935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3.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80BD92-B565-2C2B-C30F-433C3FBBBC13}"/>
              </a:ext>
            </a:extLst>
          </p:cNvPr>
          <p:cNvSpPr/>
          <p:nvPr/>
        </p:nvSpPr>
        <p:spPr>
          <a:xfrm>
            <a:off x="5434149" y="23469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Eigenschaften werden zu Faktoren zusammengefasst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F356FCD-6AF0-44C4-1ACE-5BB87C5CF03A}"/>
              </a:ext>
            </a:extLst>
          </p:cNvPr>
          <p:cNvSpPr/>
          <p:nvPr/>
        </p:nvSpPr>
        <p:spPr>
          <a:xfrm>
            <a:off x="7857309" y="1844040"/>
            <a:ext cx="914400" cy="1280160"/>
          </a:xfrm>
          <a:prstGeom prst="round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36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C6126A3-A3CE-E65A-1D37-6F157E05ACF7}"/>
              </a:ext>
            </a:extLst>
          </p:cNvPr>
          <p:cNvSpPr/>
          <p:nvPr/>
        </p:nvSpPr>
        <p:spPr>
          <a:xfrm>
            <a:off x="7879080" y="1952897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= X</a:t>
            </a:r>
            <a:endParaRPr lang="en-US" sz="4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3EFC822-57D1-CB97-199D-FE902BD5822A}"/>
              </a:ext>
            </a:extLst>
          </p:cNvPr>
          <p:cNvSpPr/>
          <p:nvPr/>
        </p:nvSpPr>
        <p:spPr>
          <a:xfrm>
            <a:off x="7916091" y="24590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Faktoren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55CB219-BB77-1441-6014-10742666A673}"/>
              </a:ext>
            </a:extLst>
          </p:cNvPr>
          <p:cNvSpPr/>
          <p:nvPr/>
        </p:nvSpPr>
        <p:spPr>
          <a:xfrm>
            <a:off x="457200" y="3291840"/>
            <a:ext cx="8229600" cy="116586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F748DF7-EA7A-EA89-C94A-56A6946E0119}"/>
              </a:ext>
            </a:extLst>
          </p:cNvPr>
          <p:cNvSpPr/>
          <p:nvPr/>
        </p:nvSpPr>
        <p:spPr>
          <a:xfrm>
            <a:off x="640080" y="3537857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Beispiel: </a:t>
            </a:r>
            <a:r>
              <a:rPr lang="en-US" sz="2000" dirty="0">
                <a:solidFill>
                  <a:srgbClr val="1E293B"/>
                </a:solidFill>
              </a:rPr>
              <a:t>Wer sich als "gesellig" beschreibt, beschreibt sich oft auch als "</a:t>
            </a:r>
            <a:r>
              <a:rPr lang="en-US" sz="2000" dirty="0" err="1">
                <a:solidFill>
                  <a:srgbClr val="1E293B"/>
                </a:solidFill>
              </a:rPr>
              <a:t>gesprächig</a:t>
            </a:r>
            <a:r>
              <a:rPr lang="en-US" sz="2000" dirty="0">
                <a:solidFill>
                  <a:srgbClr val="1E293B"/>
                </a:solidFill>
              </a:rPr>
              <a:t>", "aktiv" und "lebhaft"
</a:t>
            </a:r>
            <a:r>
              <a:rPr lang="en-US" sz="2000" dirty="0">
                <a:solidFill>
                  <a:srgbClr val="F97316"/>
                </a:solidFill>
              </a:rPr>
              <a:t>→ Diese Begriffe messen denselben Faktor: </a:t>
            </a:r>
            <a:r>
              <a:rPr lang="en-US" sz="2000" b="1" dirty="0">
                <a:solidFill>
                  <a:srgbClr val="F97316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18D4A8D-B1BE-D0CD-1962-A36733AB1AB1}"/>
              </a:ext>
            </a:extLst>
          </p:cNvPr>
          <p:cNvSpPr/>
          <p:nvPr/>
        </p:nvSpPr>
        <p:spPr>
          <a:xfrm>
            <a:off x="7582989" y="2301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BD5E1"/>
                </a:solidFill>
              </a:rPr>
              <a:t>→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604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3200"/>
          </a:p>
        </p:txBody>
      </p:sp>
      <p:sp>
        <p:nvSpPr>
          <p:cNvPr id="4" name="Text 2"/>
          <p:cNvSpPr/>
          <p:nvPr/>
        </p:nvSpPr>
        <p:spPr>
          <a:xfrm>
            <a:off x="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>
                    <a:alpha val="70000"/>
                  </a:srgbClr>
                </a:solidFill>
              </a:rPr>
              <a:t>DAS FÜNF-FAKTOREN-MODELL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1737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</a:rPr>
              <a:t>OCEAN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97724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</a:rPr>
              <a:t>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28600" y="358902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>
                    <a:alpha val="80000"/>
                  </a:srgbClr>
                </a:solidFill>
              </a:rPr>
              <a:t>Offenheit</a:t>
            </a:r>
            <a:endParaRPr lang="en-US" sz="2000" b="1" dirty="0">
              <a:solidFill>
                <a:srgbClr val="FFFFFF">
                  <a:alpha val="80000"/>
                </a:srgbClr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(Openness)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61755" y="2977244"/>
            <a:ext cx="109727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</a:rPr>
              <a:t>C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508760" y="3497581"/>
            <a:ext cx="22903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 err="1">
                <a:solidFill>
                  <a:srgbClr val="FFFFFF">
                    <a:alpha val="80000"/>
                  </a:srgbClr>
                </a:solidFill>
              </a:rPr>
              <a:t>Gewissenhaftigkeit</a:t>
            </a:r>
            <a:br>
              <a:rPr lang="en-US" sz="2000" dirty="0">
                <a:solidFill>
                  <a:srgbClr val="FFFFFF">
                    <a:alpha val="80000"/>
                  </a:srgbClr>
                </a:solidFill>
              </a:rPr>
            </a:b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(Conscientiousness)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98174" y="293805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</a:rPr>
              <a:t>E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703321" y="3589021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Extraversion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27914" y="29543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</a:rPr>
              <a:t>A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166361" y="3607522"/>
            <a:ext cx="19115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FFFF">
                    <a:alpha val="80000"/>
                  </a:srgbClr>
                </a:solidFill>
              </a:rPr>
              <a:t>Verträglichkeit</a:t>
            </a:r>
            <a:endParaRPr lang="en-US" sz="2000" dirty="0">
              <a:solidFill>
                <a:srgbClr val="FFFFFF">
                  <a:alpha val="80000"/>
                </a:srgbClr>
              </a:solidFill>
            </a:endParaRPr>
          </a:p>
          <a:p>
            <a:pPr algn="ctr"/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(Agreeableness)</a:t>
            </a:r>
          </a:p>
        </p:txBody>
      </p:sp>
      <p:sp>
        <p:nvSpPr>
          <p:cNvPr id="14" name="Text 12"/>
          <p:cNvSpPr/>
          <p:nvPr/>
        </p:nvSpPr>
        <p:spPr>
          <a:xfrm>
            <a:off x="7278189" y="29358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97316"/>
                </a:solidFill>
              </a:rPr>
              <a:t>N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003869" y="3606435"/>
            <a:ext cx="19115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FFFFFF">
                    <a:alpha val="80000"/>
                  </a:srgbClr>
                </a:solidFill>
              </a:rPr>
              <a:t>Neurotizismus</a:t>
            </a:r>
            <a:endParaRPr lang="en-US" sz="2000" dirty="0">
              <a:solidFill>
                <a:srgbClr val="FFFFFF">
                  <a:alpha val="80000"/>
                </a:srgbClr>
              </a:solidFill>
            </a:endParaRPr>
          </a:p>
          <a:p>
            <a:pPr algn="ctr"/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(Neuroticism)</a:t>
            </a:r>
          </a:p>
        </p:txBody>
      </p:sp>
      <p:sp>
        <p:nvSpPr>
          <p:cNvPr id="16" name="Text 14"/>
          <p:cNvSpPr/>
          <p:nvPr/>
        </p:nvSpPr>
        <p:spPr>
          <a:xfrm>
            <a:off x="0" y="436952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>
                    <a:alpha val="60000"/>
                  </a:srgbClr>
                </a:solidFill>
              </a:rPr>
              <a:t>Das dominierende Modell der </a:t>
            </a:r>
            <a:r>
              <a:rPr lang="en-US" sz="2000" dirty="0" err="1">
                <a:solidFill>
                  <a:srgbClr val="FFFFFF">
                    <a:alpha val="60000"/>
                  </a:srgbClr>
                </a:solidFill>
              </a:rPr>
              <a:t>Persönlichkeitsforschung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9D90E-0B1D-EAF8-DF3A-AD419C8D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44BDCB0-EFDB-EEE8-D741-4B0ED47FB360}"/>
              </a:ext>
            </a:extLst>
          </p:cNvPr>
          <p:cNvSpPr/>
          <p:nvPr/>
        </p:nvSpPr>
        <p:spPr>
          <a:xfrm>
            <a:off x="320040" y="831669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18AC68C-791D-B94B-BF6D-40560D201057}"/>
              </a:ext>
            </a:extLst>
          </p:cNvPr>
          <p:cNvSpPr/>
          <p:nvPr/>
        </p:nvSpPr>
        <p:spPr>
          <a:xfrm>
            <a:off x="32004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5DCEF1-AF86-E47E-E148-057375B7E364}"/>
              </a:ext>
            </a:extLst>
          </p:cNvPr>
          <p:cNvSpPr/>
          <p:nvPr/>
        </p:nvSpPr>
        <p:spPr>
          <a:xfrm>
            <a:off x="32004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O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5A9FBC-01B1-8959-6F40-E9F4EEB930E2}"/>
              </a:ext>
            </a:extLst>
          </p:cNvPr>
          <p:cNvSpPr/>
          <p:nvPr/>
        </p:nvSpPr>
        <p:spPr>
          <a:xfrm>
            <a:off x="320040" y="153292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Offenheit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23005A-E779-B4B1-987A-6789C239C4ED}"/>
              </a:ext>
            </a:extLst>
          </p:cNvPr>
          <p:cNvSpPr/>
          <p:nvPr/>
        </p:nvSpPr>
        <p:spPr>
          <a:xfrm>
            <a:off x="205740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0F12C7D-97C4-C190-D160-7A8F3EF20D66}"/>
              </a:ext>
            </a:extLst>
          </p:cNvPr>
          <p:cNvSpPr/>
          <p:nvPr/>
        </p:nvSpPr>
        <p:spPr>
          <a:xfrm>
            <a:off x="205740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646213-E974-8A14-81C4-B9D1B6016FDE}"/>
              </a:ext>
            </a:extLst>
          </p:cNvPr>
          <p:cNvSpPr/>
          <p:nvPr/>
        </p:nvSpPr>
        <p:spPr>
          <a:xfrm>
            <a:off x="205740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C</a:t>
            </a:r>
            <a:endParaRPr lang="en-US" sz="4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6F7EF14-C3A3-978E-AC15-EE8120856B37}"/>
              </a:ext>
            </a:extLst>
          </p:cNvPr>
          <p:cNvSpPr/>
          <p:nvPr/>
        </p:nvSpPr>
        <p:spPr>
          <a:xfrm>
            <a:off x="2011680" y="150854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B5A7C"/>
                </a:solidFill>
              </a:rPr>
              <a:t>Gewissenhaft</a:t>
            </a:r>
            <a:r>
              <a:rPr lang="en-US" sz="1600" b="1" dirty="0" err="1">
                <a:solidFill>
                  <a:srgbClr val="2B5A7C"/>
                </a:solidFill>
              </a:rPr>
              <a:t>igkeit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553442A-72FE-6194-5A81-78C96FD73587}"/>
              </a:ext>
            </a:extLst>
          </p:cNvPr>
          <p:cNvSpPr/>
          <p:nvPr/>
        </p:nvSpPr>
        <p:spPr>
          <a:xfrm>
            <a:off x="379476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80300D4-6437-B67D-4AA2-DDCC970CEB82}"/>
              </a:ext>
            </a:extLst>
          </p:cNvPr>
          <p:cNvSpPr/>
          <p:nvPr/>
        </p:nvSpPr>
        <p:spPr>
          <a:xfrm>
            <a:off x="379476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6B91006-EB3F-918F-90DF-E075CA3E7555}"/>
              </a:ext>
            </a:extLst>
          </p:cNvPr>
          <p:cNvSpPr/>
          <p:nvPr/>
        </p:nvSpPr>
        <p:spPr>
          <a:xfrm>
            <a:off x="379476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E</a:t>
            </a: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F3DAB11-5789-6398-8CB8-E95AE4D6105E}"/>
              </a:ext>
            </a:extLst>
          </p:cNvPr>
          <p:cNvSpPr/>
          <p:nvPr/>
        </p:nvSpPr>
        <p:spPr>
          <a:xfrm>
            <a:off x="379476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EF36DE0-E346-6680-F68B-4358D80813EA}"/>
              </a:ext>
            </a:extLst>
          </p:cNvPr>
          <p:cNvSpPr/>
          <p:nvPr/>
        </p:nvSpPr>
        <p:spPr>
          <a:xfrm>
            <a:off x="553212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30D36C6-2C31-83B7-A5DE-62739278472D}"/>
              </a:ext>
            </a:extLst>
          </p:cNvPr>
          <p:cNvSpPr/>
          <p:nvPr/>
        </p:nvSpPr>
        <p:spPr>
          <a:xfrm>
            <a:off x="553212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F28D977-3C2C-6E75-555C-A3D8AA2C3387}"/>
              </a:ext>
            </a:extLst>
          </p:cNvPr>
          <p:cNvSpPr/>
          <p:nvPr/>
        </p:nvSpPr>
        <p:spPr>
          <a:xfrm>
            <a:off x="553212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A</a:t>
            </a:r>
            <a:endParaRPr lang="en-US" sz="4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6D4C214-6234-5C4B-F62C-B947F84D2D85}"/>
              </a:ext>
            </a:extLst>
          </p:cNvPr>
          <p:cNvSpPr/>
          <p:nvPr/>
        </p:nvSpPr>
        <p:spPr>
          <a:xfrm>
            <a:off x="5486400" y="148720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Verträglichkeit</a:t>
            </a:r>
            <a:endParaRPr lang="en-US" sz="2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51F93F9-3740-5838-282D-37428D5B9DA0}"/>
              </a:ext>
            </a:extLst>
          </p:cNvPr>
          <p:cNvSpPr/>
          <p:nvPr/>
        </p:nvSpPr>
        <p:spPr>
          <a:xfrm>
            <a:off x="726948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71CDE96-D045-994B-5BAB-150DCDFC2D13}"/>
              </a:ext>
            </a:extLst>
          </p:cNvPr>
          <p:cNvSpPr/>
          <p:nvPr/>
        </p:nvSpPr>
        <p:spPr>
          <a:xfrm>
            <a:off x="726948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9630A93-5BF5-82AA-27DA-DA09A18AFBAF}"/>
              </a:ext>
            </a:extLst>
          </p:cNvPr>
          <p:cNvSpPr/>
          <p:nvPr/>
        </p:nvSpPr>
        <p:spPr>
          <a:xfrm>
            <a:off x="726948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N</a:t>
            </a:r>
            <a:endParaRPr lang="en-US" sz="4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7C50169-8ADA-F11D-B4C4-02165BD57D88}"/>
              </a:ext>
            </a:extLst>
          </p:cNvPr>
          <p:cNvSpPr/>
          <p:nvPr/>
        </p:nvSpPr>
        <p:spPr>
          <a:xfrm>
            <a:off x="726948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Neurotizität</a:t>
            </a:r>
            <a:endParaRPr lang="en-US" sz="20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B10BF12-0A93-BC51-667C-F65B53059859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Die </a:t>
            </a:r>
            <a:r>
              <a:rPr lang="en-US" sz="2400" b="1" dirty="0" err="1">
                <a:solidFill>
                  <a:srgbClr val="2B5A7C"/>
                </a:solidFill>
              </a:rPr>
              <a:t>fünf</a:t>
            </a:r>
            <a:r>
              <a:rPr lang="en-US" sz="2400" b="1" dirty="0">
                <a:solidFill>
                  <a:srgbClr val="2B5A7C"/>
                </a:solidFill>
              </a:rPr>
              <a:t> </a:t>
            </a:r>
            <a:r>
              <a:rPr lang="en-US" sz="2400" b="1" dirty="0" err="1">
                <a:solidFill>
                  <a:srgbClr val="2B5A7C"/>
                </a:solidFill>
              </a:rPr>
              <a:t>Faktoren</a:t>
            </a:r>
            <a:r>
              <a:rPr lang="en-US" sz="2400" b="1" dirty="0">
                <a:solidFill>
                  <a:srgbClr val="2B5A7C"/>
                </a:solidFill>
              </a:rPr>
              <a:t>/</a:t>
            </a:r>
            <a:r>
              <a:rPr lang="en-US" sz="2400" b="1" dirty="0" err="1">
                <a:solidFill>
                  <a:srgbClr val="2B5A7C"/>
                </a:solidFill>
              </a:rPr>
              <a:t>Dimensionen</a:t>
            </a:r>
            <a:r>
              <a:rPr lang="en-US" sz="2400" b="1" dirty="0">
                <a:solidFill>
                  <a:srgbClr val="2B5A7C"/>
                </a:solidFill>
              </a:rPr>
              <a:t> im Detail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9578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0AD2E-91F7-5765-6C9E-337A50C4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3883889-B30F-B92B-A09C-D1B9A299C9F3}"/>
              </a:ext>
            </a:extLst>
          </p:cNvPr>
          <p:cNvSpPr/>
          <p:nvPr/>
        </p:nvSpPr>
        <p:spPr>
          <a:xfrm>
            <a:off x="320040" y="831669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370F7E-7D85-DA61-056A-1C4C215A2EF0}"/>
              </a:ext>
            </a:extLst>
          </p:cNvPr>
          <p:cNvSpPr/>
          <p:nvPr/>
        </p:nvSpPr>
        <p:spPr>
          <a:xfrm>
            <a:off x="32004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885527-7F67-C21E-5913-F7ED08C27264}"/>
              </a:ext>
            </a:extLst>
          </p:cNvPr>
          <p:cNvSpPr/>
          <p:nvPr/>
        </p:nvSpPr>
        <p:spPr>
          <a:xfrm>
            <a:off x="32004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O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7FD67E-3E31-7ED9-2F30-E13CA50ED8A1}"/>
              </a:ext>
            </a:extLst>
          </p:cNvPr>
          <p:cNvSpPr/>
          <p:nvPr/>
        </p:nvSpPr>
        <p:spPr>
          <a:xfrm>
            <a:off x="320040" y="153292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Offenheit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E19B023-0536-E80C-196E-EDD0CFFA603E}"/>
              </a:ext>
            </a:extLst>
          </p:cNvPr>
          <p:cNvSpPr/>
          <p:nvPr/>
        </p:nvSpPr>
        <p:spPr>
          <a:xfrm>
            <a:off x="205740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6935A5D-5EB3-3614-9D7C-F13160F7C43B}"/>
              </a:ext>
            </a:extLst>
          </p:cNvPr>
          <p:cNvSpPr/>
          <p:nvPr/>
        </p:nvSpPr>
        <p:spPr>
          <a:xfrm>
            <a:off x="205740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6D6BFF2-64CD-CC0D-0185-923858CC9C1A}"/>
              </a:ext>
            </a:extLst>
          </p:cNvPr>
          <p:cNvSpPr/>
          <p:nvPr/>
        </p:nvSpPr>
        <p:spPr>
          <a:xfrm>
            <a:off x="205740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C</a:t>
            </a:r>
            <a:endParaRPr lang="en-US" sz="4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AACD40A-73FA-0EDE-8635-3C721DD1AB3D}"/>
              </a:ext>
            </a:extLst>
          </p:cNvPr>
          <p:cNvSpPr/>
          <p:nvPr/>
        </p:nvSpPr>
        <p:spPr>
          <a:xfrm>
            <a:off x="2011680" y="150854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B5A7C"/>
                </a:solidFill>
              </a:rPr>
              <a:t>Gewissenhaft</a:t>
            </a:r>
            <a:r>
              <a:rPr lang="en-US" sz="1600" b="1" dirty="0" err="1">
                <a:solidFill>
                  <a:srgbClr val="2B5A7C"/>
                </a:solidFill>
              </a:rPr>
              <a:t>igkeit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40C1884-9056-56C3-FCC8-60EF8165D3A6}"/>
              </a:ext>
            </a:extLst>
          </p:cNvPr>
          <p:cNvSpPr/>
          <p:nvPr/>
        </p:nvSpPr>
        <p:spPr>
          <a:xfrm>
            <a:off x="379476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35846AC-DE60-6D5D-56F5-CD082FE896B3}"/>
              </a:ext>
            </a:extLst>
          </p:cNvPr>
          <p:cNvSpPr/>
          <p:nvPr/>
        </p:nvSpPr>
        <p:spPr>
          <a:xfrm>
            <a:off x="379476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BA1775A-157F-DCA5-C777-FDD93ED2CEFE}"/>
              </a:ext>
            </a:extLst>
          </p:cNvPr>
          <p:cNvSpPr/>
          <p:nvPr/>
        </p:nvSpPr>
        <p:spPr>
          <a:xfrm>
            <a:off x="379476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E</a:t>
            </a: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EE16080-3F2A-56D4-E1EA-83FF0EE32B54}"/>
              </a:ext>
            </a:extLst>
          </p:cNvPr>
          <p:cNvSpPr/>
          <p:nvPr/>
        </p:nvSpPr>
        <p:spPr>
          <a:xfrm>
            <a:off x="379476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5AC8027-7532-8FB5-DB06-063A5C4C0563}"/>
              </a:ext>
            </a:extLst>
          </p:cNvPr>
          <p:cNvSpPr/>
          <p:nvPr/>
        </p:nvSpPr>
        <p:spPr>
          <a:xfrm>
            <a:off x="553212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FA8DF2A-C6DF-BA1D-AE15-FE72FBB0C9E9}"/>
              </a:ext>
            </a:extLst>
          </p:cNvPr>
          <p:cNvSpPr/>
          <p:nvPr/>
        </p:nvSpPr>
        <p:spPr>
          <a:xfrm>
            <a:off x="553212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6159733-763F-0A0F-4C56-E37DA26D8AED}"/>
              </a:ext>
            </a:extLst>
          </p:cNvPr>
          <p:cNvSpPr/>
          <p:nvPr/>
        </p:nvSpPr>
        <p:spPr>
          <a:xfrm>
            <a:off x="553212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A</a:t>
            </a:r>
            <a:endParaRPr lang="en-US" sz="4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971C273-DDBD-49CE-4A57-827C6FCD313B}"/>
              </a:ext>
            </a:extLst>
          </p:cNvPr>
          <p:cNvSpPr/>
          <p:nvPr/>
        </p:nvSpPr>
        <p:spPr>
          <a:xfrm>
            <a:off x="5486400" y="148720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Verträglichkeit</a:t>
            </a:r>
            <a:endParaRPr lang="en-US" sz="2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E036A93-FFCB-5020-3BFE-AD7FC014499F}"/>
              </a:ext>
            </a:extLst>
          </p:cNvPr>
          <p:cNvSpPr/>
          <p:nvPr/>
        </p:nvSpPr>
        <p:spPr>
          <a:xfrm>
            <a:off x="726948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66AB874-C790-5057-E9D5-294A814A2749}"/>
              </a:ext>
            </a:extLst>
          </p:cNvPr>
          <p:cNvSpPr/>
          <p:nvPr/>
        </p:nvSpPr>
        <p:spPr>
          <a:xfrm>
            <a:off x="726948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C201FA2-24AB-0920-FF14-9F141D7F14A3}"/>
              </a:ext>
            </a:extLst>
          </p:cNvPr>
          <p:cNvSpPr/>
          <p:nvPr/>
        </p:nvSpPr>
        <p:spPr>
          <a:xfrm>
            <a:off x="726948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N</a:t>
            </a:r>
            <a:endParaRPr lang="en-US" sz="4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44B16B-D78A-0397-907A-80D09327FD20}"/>
              </a:ext>
            </a:extLst>
          </p:cNvPr>
          <p:cNvSpPr/>
          <p:nvPr/>
        </p:nvSpPr>
        <p:spPr>
          <a:xfrm>
            <a:off x="726948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Neurotizität</a:t>
            </a:r>
            <a:endParaRPr lang="en-US" sz="20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D8EA6598-4D11-3F0C-8458-ABCFCECBFE5D}"/>
              </a:ext>
            </a:extLst>
          </p:cNvPr>
          <p:cNvSpPr/>
          <p:nvPr/>
        </p:nvSpPr>
        <p:spPr>
          <a:xfrm>
            <a:off x="39319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C71C4A55-F2E6-1943-A19C-60828C3289FC}"/>
              </a:ext>
            </a:extLst>
          </p:cNvPr>
          <p:cNvSpPr/>
          <p:nvPr/>
        </p:nvSpPr>
        <p:spPr>
          <a:xfrm>
            <a:off x="42976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A7F01E62-1D0E-E490-1F1D-38750B689BEE}"/>
              </a:ext>
            </a:extLst>
          </p:cNvPr>
          <p:cNvSpPr/>
          <p:nvPr/>
        </p:nvSpPr>
        <p:spPr>
          <a:xfrm>
            <a:off x="42976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kreativ, neugierig, fantasievoll</a:t>
            </a:r>
            <a:endParaRPr lang="en-US" sz="16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A50CE009-D01C-D6F0-BF0E-D2A11C535189}"/>
              </a:ext>
            </a:extLst>
          </p:cNvPr>
          <p:cNvSpPr/>
          <p:nvPr/>
        </p:nvSpPr>
        <p:spPr>
          <a:xfrm>
            <a:off x="39319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5757C025-AD19-4528-24E5-087D5C6C4EC7}"/>
              </a:ext>
            </a:extLst>
          </p:cNvPr>
          <p:cNvSpPr/>
          <p:nvPr/>
        </p:nvSpPr>
        <p:spPr>
          <a:xfrm>
            <a:off x="42976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55AD86AD-B7AC-D58A-EADF-C2E3926E9E68}"/>
              </a:ext>
            </a:extLst>
          </p:cNvPr>
          <p:cNvSpPr/>
          <p:nvPr/>
        </p:nvSpPr>
        <p:spPr>
          <a:xfrm>
            <a:off x="42976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praktisch, konventionell</a:t>
            </a:r>
            <a:endParaRPr lang="en-US" sz="16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FD6FBF1-25C2-3BBA-62E0-7739CCC24089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Die </a:t>
            </a:r>
            <a:r>
              <a:rPr lang="en-US" sz="2400" b="1" dirty="0" err="1">
                <a:solidFill>
                  <a:srgbClr val="2B5A7C"/>
                </a:solidFill>
              </a:rPr>
              <a:t>fünf</a:t>
            </a:r>
            <a:r>
              <a:rPr lang="en-US" sz="2400" b="1" dirty="0">
                <a:solidFill>
                  <a:srgbClr val="2B5A7C"/>
                </a:solidFill>
              </a:rPr>
              <a:t> </a:t>
            </a:r>
            <a:r>
              <a:rPr lang="en-US" sz="2400" b="1" dirty="0" err="1">
                <a:solidFill>
                  <a:srgbClr val="2B5A7C"/>
                </a:solidFill>
              </a:rPr>
              <a:t>Faktoren</a:t>
            </a:r>
            <a:r>
              <a:rPr lang="en-US" sz="2400" b="1" dirty="0">
                <a:solidFill>
                  <a:srgbClr val="2B5A7C"/>
                </a:solidFill>
              </a:rPr>
              <a:t>/</a:t>
            </a:r>
            <a:r>
              <a:rPr lang="en-US" sz="2400" b="1" dirty="0" err="1">
                <a:solidFill>
                  <a:srgbClr val="2B5A7C"/>
                </a:solidFill>
              </a:rPr>
              <a:t>Dimensionen</a:t>
            </a:r>
            <a:r>
              <a:rPr lang="en-US" sz="2400" b="1" dirty="0">
                <a:solidFill>
                  <a:srgbClr val="2B5A7C"/>
                </a:solidFill>
              </a:rPr>
              <a:t> im Detail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4805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8546-4C45-B93B-D680-FDB33C5D4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AC6C46F-9EB7-5FAD-FDE6-E858EF825739}"/>
              </a:ext>
            </a:extLst>
          </p:cNvPr>
          <p:cNvSpPr/>
          <p:nvPr/>
        </p:nvSpPr>
        <p:spPr>
          <a:xfrm>
            <a:off x="320040" y="831669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958DC0-1559-34D8-49CE-06E9CAA7DB23}"/>
              </a:ext>
            </a:extLst>
          </p:cNvPr>
          <p:cNvSpPr/>
          <p:nvPr/>
        </p:nvSpPr>
        <p:spPr>
          <a:xfrm>
            <a:off x="32004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6B2DF1-2317-206C-BE7A-56FFF0C966B0}"/>
              </a:ext>
            </a:extLst>
          </p:cNvPr>
          <p:cNvSpPr/>
          <p:nvPr/>
        </p:nvSpPr>
        <p:spPr>
          <a:xfrm>
            <a:off x="32004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O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9879C7-D587-0F84-E3CC-A5E104A40274}"/>
              </a:ext>
            </a:extLst>
          </p:cNvPr>
          <p:cNvSpPr/>
          <p:nvPr/>
        </p:nvSpPr>
        <p:spPr>
          <a:xfrm>
            <a:off x="320040" y="153292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Offenheit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6983FC5-12BD-5B26-5008-937E1BCEA4E9}"/>
              </a:ext>
            </a:extLst>
          </p:cNvPr>
          <p:cNvSpPr/>
          <p:nvPr/>
        </p:nvSpPr>
        <p:spPr>
          <a:xfrm>
            <a:off x="205740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66F3589-4DCB-AA2D-407F-2E379BA3E3C7}"/>
              </a:ext>
            </a:extLst>
          </p:cNvPr>
          <p:cNvSpPr/>
          <p:nvPr/>
        </p:nvSpPr>
        <p:spPr>
          <a:xfrm>
            <a:off x="205740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C30F1F7-4DD0-95E9-7306-71707ADEDE20}"/>
              </a:ext>
            </a:extLst>
          </p:cNvPr>
          <p:cNvSpPr/>
          <p:nvPr/>
        </p:nvSpPr>
        <p:spPr>
          <a:xfrm>
            <a:off x="205740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C</a:t>
            </a:r>
            <a:endParaRPr lang="en-US" sz="4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BE82F70-DDF0-9D5E-8689-1FBF3C4D2196}"/>
              </a:ext>
            </a:extLst>
          </p:cNvPr>
          <p:cNvSpPr/>
          <p:nvPr/>
        </p:nvSpPr>
        <p:spPr>
          <a:xfrm>
            <a:off x="2011680" y="150854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B5A7C"/>
                </a:solidFill>
              </a:rPr>
              <a:t>Gewissenhaft</a:t>
            </a:r>
            <a:r>
              <a:rPr lang="en-US" sz="1600" b="1" dirty="0" err="1">
                <a:solidFill>
                  <a:srgbClr val="2B5A7C"/>
                </a:solidFill>
              </a:rPr>
              <a:t>igkeit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012BE44-0C73-206B-C8AE-99B68830F3FD}"/>
              </a:ext>
            </a:extLst>
          </p:cNvPr>
          <p:cNvSpPr/>
          <p:nvPr/>
        </p:nvSpPr>
        <p:spPr>
          <a:xfrm>
            <a:off x="379476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DE85979-4BCD-914B-C72A-9EC6BA85CBD2}"/>
              </a:ext>
            </a:extLst>
          </p:cNvPr>
          <p:cNvSpPr/>
          <p:nvPr/>
        </p:nvSpPr>
        <p:spPr>
          <a:xfrm>
            <a:off x="379476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8F6330B-39E6-306C-E090-6D336736260F}"/>
              </a:ext>
            </a:extLst>
          </p:cNvPr>
          <p:cNvSpPr/>
          <p:nvPr/>
        </p:nvSpPr>
        <p:spPr>
          <a:xfrm>
            <a:off x="379476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E</a:t>
            </a: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8631F3D-BCBE-0E65-222C-3CE8DCF2F6AA}"/>
              </a:ext>
            </a:extLst>
          </p:cNvPr>
          <p:cNvSpPr/>
          <p:nvPr/>
        </p:nvSpPr>
        <p:spPr>
          <a:xfrm>
            <a:off x="379476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F3CE7C3-8B3E-90BE-5460-EC258ADAF15E}"/>
              </a:ext>
            </a:extLst>
          </p:cNvPr>
          <p:cNvSpPr/>
          <p:nvPr/>
        </p:nvSpPr>
        <p:spPr>
          <a:xfrm>
            <a:off x="553212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0C4C9B-2261-5C34-CBD3-EB7AAAD5AFCD}"/>
              </a:ext>
            </a:extLst>
          </p:cNvPr>
          <p:cNvSpPr/>
          <p:nvPr/>
        </p:nvSpPr>
        <p:spPr>
          <a:xfrm>
            <a:off x="553212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41ECAF4-FFAD-6E42-A6E0-6AD27C192FAD}"/>
              </a:ext>
            </a:extLst>
          </p:cNvPr>
          <p:cNvSpPr/>
          <p:nvPr/>
        </p:nvSpPr>
        <p:spPr>
          <a:xfrm>
            <a:off x="553212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A</a:t>
            </a:r>
            <a:endParaRPr lang="en-US" sz="4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BD5513D-A48D-12DA-0A03-6D872CBB8202}"/>
              </a:ext>
            </a:extLst>
          </p:cNvPr>
          <p:cNvSpPr/>
          <p:nvPr/>
        </p:nvSpPr>
        <p:spPr>
          <a:xfrm>
            <a:off x="5486400" y="148720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Verträglichkeit</a:t>
            </a:r>
            <a:endParaRPr lang="en-US" sz="2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295F457-2762-05EF-CF56-97B1D1C81141}"/>
              </a:ext>
            </a:extLst>
          </p:cNvPr>
          <p:cNvSpPr/>
          <p:nvPr/>
        </p:nvSpPr>
        <p:spPr>
          <a:xfrm>
            <a:off x="726948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159811B-7BBE-C307-5A55-0499E5E3B57A}"/>
              </a:ext>
            </a:extLst>
          </p:cNvPr>
          <p:cNvSpPr/>
          <p:nvPr/>
        </p:nvSpPr>
        <p:spPr>
          <a:xfrm>
            <a:off x="726948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0B11817C-4CA4-951B-2D65-B7ACE0B341D2}"/>
              </a:ext>
            </a:extLst>
          </p:cNvPr>
          <p:cNvSpPr/>
          <p:nvPr/>
        </p:nvSpPr>
        <p:spPr>
          <a:xfrm>
            <a:off x="726948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N</a:t>
            </a:r>
            <a:endParaRPr lang="en-US" sz="4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44CB78E-7CC2-C945-1A0D-F2F8E7E8FBC2}"/>
              </a:ext>
            </a:extLst>
          </p:cNvPr>
          <p:cNvSpPr/>
          <p:nvPr/>
        </p:nvSpPr>
        <p:spPr>
          <a:xfrm>
            <a:off x="726948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Neurotizität</a:t>
            </a:r>
            <a:endParaRPr lang="en-US" sz="20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65B3CD64-FA4C-442F-5C5F-8625C0D6D1B4}"/>
              </a:ext>
            </a:extLst>
          </p:cNvPr>
          <p:cNvSpPr/>
          <p:nvPr/>
        </p:nvSpPr>
        <p:spPr>
          <a:xfrm>
            <a:off x="39319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AD00F158-419B-BBCC-9140-971F199BEEB7}"/>
              </a:ext>
            </a:extLst>
          </p:cNvPr>
          <p:cNvSpPr/>
          <p:nvPr/>
        </p:nvSpPr>
        <p:spPr>
          <a:xfrm>
            <a:off x="42976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561400AD-B4EA-B26C-E5E5-7EEC936E8305}"/>
              </a:ext>
            </a:extLst>
          </p:cNvPr>
          <p:cNvSpPr/>
          <p:nvPr/>
        </p:nvSpPr>
        <p:spPr>
          <a:xfrm>
            <a:off x="42976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kreativ, neugierig, fantasievoll</a:t>
            </a:r>
            <a:endParaRPr lang="en-US" sz="16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D8DDED4D-789C-4E13-DCE6-134CB4DEEB90}"/>
              </a:ext>
            </a:extLst>
          </p:cNvPr>
          <p:cNvSpPr/>
          <p:nvPr/>
        </p:nvSpPr>
        <p:spPr>
          <a:xfrm>
            <a:off x="39319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499453D3-4224-5986-AD6F-7300E5052C92}"/>
              </a:ext>
            </a:extLst>
          </p:cNvPr>
          <p:cNvSpPr/>
          <p:nvPr/>
        </p:nvSpPr>
        <p:spPr>
          <a:xfrm>
            <a:off x="42976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402F00E7-608B-B72A-992F-4AED76556774}"/>
              </a:ext>
            </a:extLst>
          </p:cNvPr>
          <p:cNvSpPr/>
          <p:nvPr/>
        </p:nvSpPr>
        <p:spPr>
          <a:xfrm>
            <a:off x="42976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praktisch, konventionell</a:t>
            </a:r>
            <a:endParaRPr lang="en-US" sz="16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C8F01794-2476-C88B-754C-FBB648E90D0D}"/>
              </a:ext>
            </a:extLst>
          </p:cNvPr>
          <p:cNvSpPr/>
          <p:nvPr/>
        </p:nvSpPr>
        <p:spPr>
          <a:xfrm>
            <a:off x="213055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34870E2B-C4A8-008B-4A59-644F96E57FEE}"/>
              </a:ext>
            </a:extLst>
          </p:cNvPr>
          <p:cNvSpPr/>
          <p:nvPr/>
        </p:nvSpPr>
        <p:spPr>
          <a:xfrm>
            <a:off x="216712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3FBD11CF-FAB5-5C1A-83FE-EE9D6AA15CA9}"/>
              </a:ext>
            </a:extLst>
          </p:cNvPr>
          <p:cNvSpPr/>
          <p:nvPr/>
        </p:nvSpPr>
        <p:spPr>
          <a:xfrm>
            <a:off x="216712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organisiert, </a:t>
            </a:r>
            <a:r>
              <a:rPr lang="en-US" sz="1600" dirty="0" err="1">
                <a:solidFill>
                  <a:srgbClr val="64748B"/>
                </a:solidFill>
              </a:rPr>
              <a:t>zuverlässig</a:t>
            </a:r>
            <a:endParaRPr lang="en-US" sz="16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3BE7AD8F-3027-FB21-E38F-5460709BBECD}"/>
              </a:ext>
            </a:extLst>
          </p:cNvPr>
          <p:cNvSpPr/>
          <p:nvPr/>
        </p:nvSpPr>
        <p:spPr>
          <a:xfrm>
            <a:off x="213055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4A9F1384-1E7C-065D-9D96-8FE6168066F2}"/>
              </a:ext>
            </a:extLst>
          </p:cNvPr>
          <p:cNvSpPr/>
          <p:nvPr/>
        </p:nvSpPr>
        <p:spPr>
          <a:xfrm>
            <a:off x="216712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96F54D4C-437B-0122-02E6-8D6D6081EE88}"/>
              </a:ext>
            </a:extLst>
          </p:cNvPr>
          <p:cNvSpPr/>
          <p:nvPr/>
        </p:nvSpPr>
        <p:spPr>
          <a:xfrm>
            <a:off x="216712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spontan, flexibel, chaotisch</a:t>
            </a:r>
            <a:endParaRPr lang="en-US" sz="16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1A4CA44B-338E-19AB-6153-6BC389D3198C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Die </a:t>
            </a:r>
            <a:r>
              <a:rPr lang="en-US" sz="2400" b="1" dirty="0" err="1">
                <a:solidFill>
                  <a:srgbClr val="2B5A7C"/>
                </a:solidFill>
              </a:rPr>
              <a:t>fünf</a:t>
            </a:r>
            <a:r>
              <a:rPr lang="en-US" sz="2400" b="1" dirty="0">
                <a:solidFill>
                  <a:srgbClr val="2B5A7C"/>
                </a:solidFill>
              </a:rPr>
              <a:t> </a:t>
            </a:r>
            <a:r>
              <a:rPr lang="en-US" sz="2400" b="1" dirty="0" err="1">
                <a:solidFill>
                  <a:srgbClr val="2B5A7C"/>
                </a:solidFill>
              </a:rPr>
              <a:t>Faktoren</a:t>
            </a:r>
            <a:r>
              <a:rPr lang="en-US" sz="2400" b="1" dirty="0">
                <a:solidFill>
                  <a:srgbClr val="2B5A7C"/>
                </a:solidFill>
              </a:rPr>
              <a:t>/</a:t>
            </a:r>
            <a:r>
              <a:rPr lang="en-US" sz="2400" b="1" dirty="0" err="1">
                <a:solidFill>
                  <a:srgbClr val="2B5A7C"/>
                </a:solidFill>
              </a:rPr>
              <a:t>Dimensionen</a:t>
            </a:r>
            <a:r>
              <a:rPr lang="en-US" sz="2400" b="1" dirty="0">
                <a:solidFill>
                  <a:srgbClr val="2B5A7C"/>
                </a:solidFill>
              </a:rPr>
              <a:t> im Detail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2815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16BF-7B40-F0A8-2929-C2765527A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D8CF6B2-0D8E-423E-CCDB-9276E5B720F0}"/>
              </a:ext>
            </a:extLst>
          </p:cNvPr>
          <p:cNvSpPr/>
          <p:nvPr/>
        </p:nvSpPr>
        <p:spPr>
          <a:xfrm>
            <a:off x="320040" y="831669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E21DEFD-54E7-113E-9C1C-3397F6D2C603}"/>
              </a:ext>
            </a:extLst>
          </p:cNvPr>
          <p:cNvSpPr/>
          <p:nvPr/>
        </p:nvSpPr>
        <p:spPr>
          <a:xfrm>
            <a:off x="32004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A9223B-670C-B195-6682-6C165A2EE605}"/>
              </a:ext>
            </a:extLst>
          </p:cNvPr>
          <p:cNvSpPr/>
          <p:nvPr/>
        </p:nvSpPr>
        <p:spPr>
          <a:xfrm>
            <a:off x="32004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O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3E1078-9E9A-E596-CF30-9B9BACA2C06F}"/>
              </a:ext>
            </a:extLst>
          </p:cNvPr>
          <p:cNvSpPr/>
          <p:nvPr/>
        </p:nvSpPr>
        <p:spPr>
          <a:xfrm>
            <a:off x="320040" y="153292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Offenheit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EE86A7-CC95-610D-0106-A9415972B0DF}"/>
              </a:ext>
            </a:extLst>
          </p:cNvPr>
          <p:cNvSpPr/>
          <p:nvPr/>
        </p:nvSpPr>
        <p:spPr>
          <a:xfrm>
            <a:off x="205740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3E8CA52-9E7F-A304-7BE8-14B4D742A827}"/>
              </a:ext>
            </a:extLst>
          </p:cNvPr>
          <p:cNvSpPr/>
          <p:nvPr/>
        </p:nvSpPr>
        <p:spPr>
          <a:xfrm>
            <a:off x="205740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28007BD-BAA0-CC9A-0807-DC9BBCFBBCAB}"/>
              </a:ext>
            </a:extLst>
          </p:cNvPr>
          <p:cNvSpPr/>
          <p:nvPr/>
        </p:nvSpPr>
        <p:spPr>
          <a:xfrm>
            <a:off x="205740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C</a:t>
            </a:r>
            <a:endParaRPr lang="en-US" sz="4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6F4C35C-CA02-E333-A8E5-F7EE6FF35327}"/>
              </a:ext>
            </a:extLst>
          </p:cNvPr>
          <p:cNvSpPr/>
          <p:nvPr/>
        </p:nvSpPr>
        <p:spPr>
          <a:xfrm>
            <a:off x="2011680" y="150854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B5A7C"/>
                </a:solidFill>
              </a:rPr>
              <a:t>Gewissenhaft</a:t>
            </a:r>
            <a:r>
              <a:rPr lang="en-US" sz="1600" b="1" dirty="0" err="1">
                <a:solidFill>
                  <a:srgbClr val="2B5A7C"/>
                </a:solidFill>
              </a:rPr>
              <a:t>igkeit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C279F1B-3501-7FD3-6A4C-E73F62CF2DF6}"/>
              </a:ext>
            </a:extLst>
          </p:cNvPr>
          <p:cNvSpPr/>
          <p:nvPr/>
        </p:nvSpPr>
        <p:spPr>
          <a:xfrm>
            <a:off x="379476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D23D28A-3657-6DCA-25C9-CC9421038882}"/>
              </a:ext>
            </a:extLst>
          </p:cNvPr>
          <p:cNvSpPr/>
          <p:nvPr/>
        </p:nvSpPr>
        <p:spPr>
          <a:xfrm>
            <a:off x="379476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DC8455-118F-3DEC-87A4-4E731F2FB6B1}"/>
              </a:ext>
            </a:extLst>
          </p:cNvPr>
          <p:cNvSpPr/>
          <p:nvPr/>
        </p:nvSpPr>
        <p:spPr>
          <a:xfrm>
            <a:off x="379476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E</a:t>
            </a: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3913340-9785-48BA-0AA4-3108CFD763E8}"/>
              </a:ext>
            </a:extLst>
          </p:cNvPr>
          <p:cNvSpPr/>
          <p:nvPr/>
        </p:nvSpPr>
        <p:spPr>
          <a:xfrm>
            <a:off x="379476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F6E5854-C823-8958-52F5-C90E5628C05F}"/>
              </a:ext>
            </a:extLst>
          </p:cNvPr>
          <p:cNvSpPr/>
          <p:nvPr/>
        </p:nvSpPr>
        <p:spPr>
          <a:xfrm>
            <a:off x="553212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5EC7B13-3AC5-7181-3E46-8AC78A84BE34}"/>
              </a:ext>
            </a:extLst>
          </p:cNvPr>
          <p:cNvSpPr/>
          <p:nvPr/>
        </p:nvSpPr>
        <p:spPr>
          <a:xfrm>
            <a:off x="553212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0255B99-FF0F-5C5D-9EB5-D096054F0CE3}"/>
              </a:ext>
            </a:extLst>
          </p:cNvPr>
          <p:cNvSpPr/>
          <p:nvPr/>
        </p:nvSpPr>
        <p:spPr>
          <a:xfrm>
            <a:off x="553212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A</a:t>
            </a:r>
            <a:endParaRPr lang="en-US" sz="4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C313482-E0E3-B765-92D8-0233ABE7FFB1}"/>
              </a:ext>
            </a:extLst>
          </p:cNvPr>
          <p:cNvSpPr/>
          <p:nvPr/>
        </p:nvSpPr>
        <p:spPr>
          <a:xfrm>
            <a:off x="5486400" y="148720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Verträglichkeit</a:t>
            </a:r>
            <a:endParaRPr lang="en-US" sz="2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C087C39-A657-7C30-D589-ABE2B6A5E450}"/>
              </a:ext>
            </a:extLst>
          </p:cNvPr>
          <p:cNvSpPr/>
          <p:nvPr/>
        </p:nvSpPr>
        <p:spPr>
          <a:xfrm>
            <a:off x="726948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3F48209-A071-0A61-95D9-91BD442BC699}"/>
              </a:ext>
            </a:extLst>
          </p:cNvPr>
          <p:cNvSpPr/>
          <p:nvPr/>
        </p:nvSpPr>
        <p:spPr>
          <a:xfrm>
            <a:off x="726948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E00F144-5109-038F-6A04-963D7EC17758}"/>
              </a:ext>
            </a:extLst>
          </p:cNvPr>
          <p:cNvSpPr/>
          <p:nvPr/>
        </p:nvSpPr>
        <p:spPr>
          <a:xfrm>
            <a:off x="726948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N</a:t>
            </a:r>
            <a:endParaRPr lang="en-US" sz="4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8F52FD4-7AB3-855E-2527-F67671ECD0BE}"/>
              </a:ext>
            </a:extLst>
          </p:cNvPr>
          <p:cNvSpPr/>
          <p:nvPr/>
        </p:nvSpPr>
        <p:spPr>
          <a:xfrm>
            <a:off x="726948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Neurotizität</a:t>
            </a:r>
            <a:endParaRPr lang="en-US" sz="20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6940405A-245A-5241-8F3A-6F787A90137D}"/>
              </a:ext>
            </a:extLst>
          </p:cNvPr>
          <p:cNvSpPr/>
          <p:nvPr/>
        </p:nvSpPr>
        <p:spPr>
          <a:xfrm>
            <a:off x="39319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45498732-DB25-0BDD-D8DE-78163C09362A}"/>
              </a:ext>
            </a:extLst>
          </p:cNvPr>
          <p:cNvSpPr/>
          <p:nvPr/>
        </p:nvSpPr>
        <p:spPr>
          <a:xfrm>
            <a:off x="42976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CC0B2A74-09F4-5B3C-6086-4126D78C2ED7}"/>
              </a:ext>
            </a:extLst>
          </p:cNvPr>
          <p:cNvSpPr/>
          <p:nvPr/>
        </p:nvSpPr>
        <p:spPr>
          <a:xfrm>
            <a:off x="42976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kreativ, neugierig, fantasievoll</a:t>
            </a:r>
            <a:endParaRPr lang="en-US" sz="16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B0FFD09-1703-E5B6-A9DE-A5331CCA2E40}"/>
              </a:ext>
            </a:extLst>
          </p:cNvPr>
          <p:cNvSpPr/>
          <p:nvPr/>
        </p:nvSpPr>
        <p:spPr>
          <a:xfrm>
            <a:off x="39319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CC571796-BD59-20E0-55CA-431291C474B5}"/>
              </a:ext>
            </a:extLst>
          </p:cNvPr>
          <p:cNvSpPr/>
          <p:nvPr/>
        </p:nvSpPr>
        <p:spPr>
          <a:xfrm>
            <a:off x="42976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7CA768A-60C3-18FE-6FEA-4220DE41A2D1}"/>
              </a:ext>
            </a:extLst>
          </p:cNvPr>
          <p:cNvSpPr/>
          <p:nvPr/>
        </p:nvSpPr>
        <p:spPr>
          <a:xfrm>
            <a:off x="42976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praktisch, konventionell</a:t>
            </a:r>
            <a:endParaRPr lang="en-US" sz="16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1A21BC0E-DCC2-52B1-2617-CE3E3C8D2EE9}"/>
              </a:ext>
            </a:extLst>
          </p:cNvPr>
          <p:cNvSpPr/>
          <p:nvPr/>
        </p:nvSpPr>
        <p:spPr>
          <a:xfrm>
            <a:off x="213055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F345B071-9B26-862A-8FFA-B2FD03C49716}"/>
              </a:ext>
            </a:extLst>
          </p:cNvPr>
          <p:cNvSpPr/>
          <p:nvPr/>
        </p:nvSpPr>
        <p:spPr>
          <a:xfrm>
            <a:off x="216712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7DD1CF7A-8963-1500-371B-45A32D2C7F92}"/>
              </a:ext>
            </a:extLst>
          </p:cNvPr>
          <p:cNvSpPr/>
          <p:nvPr/>
        </p:nvSpPr>
        <p:spPr>
          <a:xfrm>
            <a:off x="216712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organisiert, </a:t>
            </a:r>
            <a:r>
              <a:rPr lang="en-US" sz="1600" dirty="0" err="1">
                <a:solidFill>
                  <a:srgbClr val="64748B"/>
                </a:solidFill>
              </a:rPr>
              <a:t>zuverlässig</a:t>
            </a:r>
            <a:endParaRPr lang="en-US" sz="16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D8083DF8-0D2F-E8D0-95F1-D665DA787135}"/>
              </a:ext>
            </a:extLst>
          </p:cNvPr>
          <p:cNvSpPr/>
          <p:nvPr/>
        </p:nvSpPr>
        <p:spPr>
          <a:xfrm>
            <a:off x="213055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1905F9D7-5DEB-19A3-C038-7A0D093E531A}"/>
              </a:ext>
            </a:extLst>
          </p:cNvPr>
          <p:cNvSpPr/>
          <p:nvPr/>
        </p:nvSpPr>
        <p:spPr>
          <a:xfrm>
            <a:off x="216712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C54DF08C-DC40-EEF1-EC1A-5C38D0253463}"/>
              </a:ext>
            </a:extLst>
          </p:cNvPr>
          <p:cNvSpPr/>
          <p:nvPr/>
        </p:nvSpPr>
        <p:spPr>
          <a:xfrm>
            <a:off x="216712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spontan, flexibel, chaotisch</a:t>
            </a:r>
            <a:endParaRPr lang="en-US" sz="1600" dirty="0"/>
          </a:p>
        </p:txBody>
      </p:sp>
      <p:sp>
        <p:nvSpPr>
          <p:cNvPr id="17" name="Shape 25">
            <a:extLst>
              <a:ext uri="{FF2B5EF4-FFF2-40B4-BE49-F238E27FC236}">
                <a16:creationId xmlns:a16="http://schemas.microsoft.com/office/drawing/2014/main" id="{39735536-E7D6-F76E-6C76-7E2DC78E4792}"/>
              </a:ext>
            </a:extLst>
          </p:cNvPr>
          <p:cNvSpPr/>
          <p:nvPr/>
        </p:nvSpPr>
        <p:spPr>
          <a:xfrm>
            <a:off x="386791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C7C2200F-0A20-0832-D593-D65C10203EF6}"/>
              </a:ext>
            </a:extLst>
          </p:cNvPr>
          <p:cNvSpPr/>
          <p:nvPr/>
        </p:nvSpPr>
        <p:spPr>
          <a:xfrm>
            <a:off x="390448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727EF2D4-24A0-ABE7-E2D9-47BA97608B3E}"/>
              </a:ext>
            </a:extLst>
          </p:cNvPr>
          <p:cNvSpPr/>
          <p:nvPr/>
        </p:nvSpPr>
        <p:spPr>
          <a:xfrm>
            <a:off x="390448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gesellig, </a:t>
            </a:r>
            <a:r>
              <a:rPr lang="en-US" sz="1600" dirty="0" err="1">
                <a:solidFill>
                  <a:srgbClr val="64748B"/>
                </a:solidFill>
              </a:rPr>
              <a:t>gesprächig</a:t>
            </a:r>
            <a:endParaRPr lang="en-US" sz="1600" dirty="0"/>
          </a:p>
        </p:txBody>
      </p:sp>
      <p:sp>
        <p:nvSpPr>
          <p:cNvPr id="20" name="Shape 28">
            <a:extLst>
              <a:ext uri="{FF2B5EF4-FFF2-40B4-BE49-F238E27FC236}">
                <a16:creationId xmlns:a16="http://schemas.microsoft.com/office/drawing/2014/main" id="{9B860956-48A6-5189-0E67-66412BE73883}"/>
              </a:ext>
            </a:extLst>
          </p:cNvPr>
          <p:cNvSpPr/>
          <p:nvPr/>
        </p:nvSpPr>
        <p:spPr>
          <a:xfrm>
            <a:off x="386791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1" name="Text 29">
            <a:extLst>
              <a:ext uri="{FF2B5EF4-FFF2-40B4-BE49-F238E27FC236}">
                <a16:creationId xmlns:a16="http://schemas.microsoft.com/office/drawing/2014/main" id="{2B6F40D5-9D71-906E-3B53-26860109F70B}"/>
              </a:ext>
            </a:extLst>
          </p:cNvPr>
          <p:cNvSpPr/>
          <p:nvPr/>
        </p:nvSpPr>
        <p:spPr>
          <a:xfrm>
            <a:off x="390448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A6CA43DA-33AC-5C77-8D08-FA1BF630BBFC}"/>
              </a:ext>
            </a:extLst>
          </p:cNvPr>
          <p:cNvSpPr/>
          <p:nvPr/>
        </p:nvSpPr>
        <p:spPr>
          <a:xfrm>
            <a:off x="390448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reserviert, ruhig</a:t>
            </a:r>
            <a:endParaRPr lang="en-US" sz="16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0BAC4797-E6E8-6678-CB1D-B4D3156E8EA6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Die </a:t>
            </a:r>
            <a:r>
              <a:rPr lang="en-US" sz="2400" b="1" dirty="0" err="1">
                <a:solidFill>
                  <a:srgbClr val="2B5A7C"/>
                </a:solidFill>
              </a:rPr>
              <a:t>fünf</a:t>
            </a:r>
            <a:r>
              <a:rPr lang="en-US" sz="2400" b="1" dirty="0">
                <a:solidFill>
                  <a:srgbClr val="2B5A7C"/>
                </a:solidFill>
              </a:rPr>
              <a:t> </a:t>
            </a:r>
            <a:r>
              <a:rPr lang="en-US" sz="2400" b="1" dirty="0" err="1">
                <a:solidFill>
                  <a:srgbClr val="2B5A7C"/>
                </a:solidFill>
              </a:rPr>
              <a:t>Faktoren</a:t>
            </a:r>
            <a:r>
              <a:rPr lang="en-US" sz="2400" b="1" dirty="0">
                <a:solidFill>
                  <a:srgbClr val="2B5A7C"/>
                </a:solidFill>
              </a:rPr>
              <a:t>/</a:t>
            </a:r>
            <a:r>
              <a:rPr lang="en-US" sz="2400" b="1" dirty="0" err="1">
                <a:solidFill>
                  <a:srgbClr val="2B5A7C"/>
                </a:solidFill>
              </a:rPr>
              <a:t>Dimensionen</a:t>
            </a:r>
            <a:r>
              <a:rPr lang="en-US" sz="2400" b="1" dirty="0">
                <a:solidFill>
                  <a:srgbClr val="2B5A7C"/>
                </a:solidFill>
              </a:rPr>
              <a:t> im Detail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3333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01DBE-1BF9-D8A7-7A7F-E6A4C6E0E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D0C7C72-306E-05E0-A6AE-D110BF621288}"/>
              </a:ext>
            </a:extLst>
          </p:cNvPr>
          <p:cNvSpPr/>
          <p:nvPr/>
        </p:nvSpPr>
        <p:spPr>
          <a:xfrm>
            <a:off x="320040" y="831669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D3F658C-879C-076D-D1C2-F66F8CD8A4A3}"/>
              </a:ext>
            </a:extLst>
          </p:cNvPr>
          <p:cNvSpPr/>
          <p:nvPr/>
        </p:nvSpPr>
        <p:spPr>
          <a:xfrm>
            <a:off x="32004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17EB46-C2E8-4498-07CD-4FB7598E4A73}"/>
              </a:ext>
            </a:extLst>
          </p:cNvPr>
          <p:cNvSpPr/>
          <p:nvPr/>
        </p:nvSpPr>
        <p:spPr>
          <a:xfrm>
            <a:off x="32004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O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CC68E1-72B0-E9A4-CEEE-033B984F8B50}"/>
              </a:ext>
            </a:extLst>
          </p:cNvPr>
          <p:cNvSpPr/>
          <p:nvPr/>
        </p:nvSpPr>
        <p:spPr>
          <a:xfrm>
            <a:off x="320040" y="153292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Offenheit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E1C24D6-9623-2067-9C57-CEE076681346}"/>
              </a:ext>
            </a:extLst>
          </p:cNvPr>
          <p:cNvSpPr/>
          <p:nvPr/>
        </p:nvSpPr>
        <p:spPr>
          <a:xfrm>
            <a:off x="205740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DDD1DBB-9A74-05E3-54F0-3D9421DDEC50}"/>
              </a:ext>
            </a:extLst>
          </p:cNvPr>
          <p:cNvSpPr/>
          <p:nvPr/>
        </p:nvSpPr>
        <p:spPr>
          <a:xfrm>
            <a:off x="205740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707DB3C-0CB0-0362-41EA-7BA857F2E171}"/>
              </a:ext>
            </a:extLst>
          </p:cNvPr>
          <p:cNvSpPr/>
          <p:nvPr/>
        </p:nvSpPr>
        <p:spPr>
          <a:xfrm>
            <a:off x="205740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C</a:t>
            </a:r>
            <a:endParaRPr lang="en-US" sz="4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DAD753F-96B1-524A-57FB-C684CA072360}"/>
              </a:ext>
            </a:extLst>
          </p:cNvPr>
          <p:cNvSpPr/>
          <p:nvPr/>
        </p:nvSpPr>
        <p:spPr>
          <a:xfrm>
            <a:off x="2011680" y="150854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B5A7C"/>
                </a:solidFill>
              </a:rPr>
              <a:t>Gewissenhaft</a:t>
            </a:r>
            <a:r>
              <a:rPr lang="en-US" sz="1600" b="1" dirty="0" err="1">
                <a:solidFill>
                  <a:srgbClr val="2B5A7C"/>
                </a:solidFill>
              </a:rPr>
              <a:t>igkeit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C414744-5596-E490-E893-36AE2BAAF8B5}"/>
              </a:ext>
            </a:extLst>
          </p:cNvPr>
          <p:cNvSpPr/>
          <p:nvPr/>
        </p:nvSpPr>
        <p:spPr>
          <a:xfrm>
            <a:off x="379476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6307D0-7BA1-7D6C-75D8-3B9247756153}"/>
              </a:ext>
            </a:extLst>
          </p:cNvPr>
          <p:cNvSpPr/>
          <p:nvPr/>
        </p:nvSpPr>
        <p:spPr>
          <a:xfrm>
            <a:off x="379476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D61F5F8-F34E-F4A9-34D8-D68A18C977AD}"/>
              </a:ext>
            </a:extLst>
          </p:cNvPr>
          <p:cNvSpPr/>
          <p:nvPr/>
        </p:nvSpPr>
        <p:spPr>
          <a:xfrm>
            <a:off x="379476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E</a:t>
            </a: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02C2A51-476E-83BB-2D9A-0BDF697470D1}"/>
              </a:ext>
            </a:extLst>
          </p:cNvPr>
          <p:cNvSpPr/>
          <p:nvPr/>
        </p:nvSpPr>
        <p:spPr>
          <a:xfrm>
            <a:off x="379476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0D34D1C-CF49-578C-28FB-D2994A0B3DC9}"/>
              </a:ext>
            </a:extLst>
          </p:cNvPr>
          <p:cNvSpPr/>
          <p:nvPr/>
        </p:nvSpPr>
        <p:spPr>
          <a:xfrm>
            <a:off x="553212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3C26F6E-7DF2-0490-6211-D65C9CE996E2}"/>
              </a:ext>
            </a:extLst>
          </p:cNvPr>
          <p:cNvSpPr/>
          <p:nvPr/>
        </p:nvSpPr>
        <p:spPr>
          <a:xfrm>
            <a:off x="553212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9C21586-E5E6-4C11-5E3E-430111C7CC3D}"/>
              </a:ext>
            </a:extLst>
          </p:cNvPr>
          <p:cNvSpPr/>
          <p:nvPr/>
        </p:nvSpPr>
        <p:spPr>
          <a:xfrm>
            <a:off x="553212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A</a:t>
            </a:r>
            <a:endParaRPr lang="en-US" sz="4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17B11E7-2FB4-CDFA-33CF-E7985B7D0CE0}"/>
              </a:ext>
            </a:extLst>
          </p:cNvPr>
          <p:cNvSpPr/>
          <p:nvPr/>
        </p:nvSpPr>
        <p:spPr>
          <a:xfrm>
            <a:off x="5486400" y="148720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Verträglichkeit</a:t>
            </a:r>
            <a:endParaRPr lang="en-US" sz="2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D065CE6-8B97-43F6-2C30-128C6CDED678}"/>
              </a:ext>
            </a:extLst>
          </p:cNvPr>
          <p:cNvSpPr/>
          <p:nvPr/>
        </p:nvSpPr>
        <p:spPr>
          <a:xfrm>
            <a:off x="726948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BCC74AF-6937-958B-5203-D5A0405AB3DF}"/>
              </a:ext>
            </a:extLst>
          </p:cNvPr>
          <p:cNvSpPr/>
          <p:nvPr/>
        </p:nvSpPr>
        <p:spPr>
          <a:xfrm>
            <a:off x="726948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8F0539C-5A45-E29D-5F5A-0750C45BCA80}"/>
              </a:ext>
            </a:extLst>
          </p:cNvPr>
          <p:cNvSpPr/>
          <p:nvPr/>
        </p:nvSpPr>
        <p:spPr>
          <a:xfrm>
            <a:off x="726948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N</a:t>
            </a:r>
            <a:endParaRPr lang="en-US" sz="4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609F50A2-EE19-1B5C-B636-408117C4BF13}"/>
              </a:ext>
            </a:extLst>
          </p:cNvPr>
          <p:cNvSpPr/>
          <p:nvPr/>
        </p:nvSpPr>
        <p:spPr>
          <a:xfrm>
            <a:off x="726948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Neurotizität</a:t>
            </a:r>
            <a:endParaRPr lang="en-US" sz="20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CEAC3693-058A-2995-86DF-638576AC4F83}"/>
              </a:ext>
            </a:extLst>
          </p:cNvPr>
          <p:cNvSpPr/>
          <p:nvPr/>
        </p:nvSpPr>
        <p:spPr>
          <a:xfrm>
            <a:off x="39319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F966B964-8700-4643-1F53-14D938F40DDF}"/>
              </a:ext>
            </a:extLst>
          </p:cNvPr>
          <p:cNvSpPr/>
          <p:nvPr/>
        </p:nvSpPr>
        <p:spPr>
          <a:xfrm>
            <a:off x="42976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A766FE23-F332-678C-C6A1-63C953106652}"/>
              </a:ext>
            </a:extLst>
          </p:cNvPr>
          <p:cNvSpPr/>
          <p:nvPr/>
        </p:nvSpPr>
        <p:spPr>
          <a:xfrm>
            <a:off x="42976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kreativ, neugierig, fantasievoll</a:t>
            </a:r>
            <a:endParaRPr lang="en-US" sz="16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1176E55C-0F70-839C-9024-77036CDB9E88}"/>
              </a:ext>
            </a:extLst>
          </p:cNvPr>
          <p:cNvSpPr/>
          <p:nvPr/>
        </p:nvSpPr>
        <p:spPr>
          <a:xfrm>
            <a:off x="39319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2BF0A38D-6D5C-15C6-40C1-89A36F83BD9E}"/>
              </a:ext>
            </a:extLst>
          </p:cNvPr>
          <p:cNvSpPr/>
          <p:nvPr/>
        </p:nvSpPr>
        <p:spPr>
          <a:xfrm>
            <a:off x="42976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C91187C6-D3B3-F5AB-AD3E-9871B358D401}"/>
              </a:ext>
            </a:extLst>
          </p:cNvPr>
          <p:cNvSpPr/>
          <p:nvPr/>
        </p:nvSpPr>
        <p:spPr>
          <a:xfrm>
            <a:off x="42976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praktisch, konventionell</a:t>
            </a:r>
            <a:endParaRPr lang="en-US" sz="16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156E1FDB-3ABE-2887-AA4E-0CCA80894EBD}"/>
              </a:ext>
            </a:extLst>
          </p:cNvPr>
          <p:cNvSpPr/>
          <p:nvPr/>
        </p:nvSpPr>
        <p:spPr>
          <a:xfrm>
            <a:off x="213055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CEA7D1E4-9EA8-4602-7938-F8B1007E94A7}"/>
              </a:ext>
            </a:extLst>
          </p:cNvPr>
          <p:cNvSpPr/>
          <p:nvPr/>
        </p:nvSpPr>
        <p:spPr>
          <a:xfrm>
            <a:off x="216712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0428C803-6B31-E36E-9703-80C148721130}"/>
              </a:ext>
            </a:extLst>
          </p:cNvPr>
          <p:cNvSpPr/>
          <p:nvPr/>
        </p:nvSpPr>
        <p:spPr>
          <a:xfrm>
            <a:off x="216712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organisiert, </a:t>
            </a:r>
            <a:r>
              <a:rPr lang="en-US" sz="1600" dirty="0" err="1">
                <a:solidFill>
                  <a:srgbClr val="64748B"/>
                </a:solidFill>
              </a:rPr>
              <a:t>zuverlässig</a:t>
            </a:r>
            <a:endParaRPr lang="en-US" sz="16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033F2738-FB90-9383-ECE6-4427B0BEB252}"/>
              </a:ext>
            </a:extLst>
          </p:cNvPr>
          <p:cNvSpPr/>
          <p:nvPr/>
        </p:nvSpPr>
        <p:spPr>
          <a:xfrm>
            <a:off x="213055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07FE6274-DD1C-4328-4F0A-0E5301E34436}"/>
              </a:ext>
            </a:extLst>
          </p:cNvPr>
          <p:cNvSpPr/>
          <p:nvPr/>
        </p:nvSpPr>
        <p:spPr>
          <a:xfrm>
            <a:off x="216712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E3AB221E-6D0B-43DC-21AC-4F2EB1DEE0FB}"/>
              </a:ext>
            </a:extLst>
          </p:cNvPr>
          <p:cNvSpPr/>
          <p:nvPr/>
        </p:nvSpPr>
        <p:spPr>
          <a:xfrm>
            <a:off x="216712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spontan, flexibel, chaotisch</a:t>
            </a:r>
            <a:endParaRPr lang="en-US" sz="1600" dirty="0"/>
          </a:p>
        </p:txBody>
      </p:sp>
      <p:sp>
        <p:nvSpPr>
          <p:cNvPr id="17" name="Shape 25">
            <a:extLst>
              <a:ext uri="{FF2B5EF4-FFF2-40B4-BE49-F238E27FC236}">
                <a16:creationId xmlns:a16="http://schemas.microsoft.com/office/drawing/2014/main" id="{2036240A-EB12-5864-B3A9-A0A8652B6EFA}"/>
              </a:ext>
            </a:extLst>
          </p:cNvPr>
          <p:cNvSpPr/>
          <p:nvPr/>
        </p:nvSpPr>
        <p:spPr>
          <a:xfrm>
            <a:off x="386791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BD5005C9-5F79-B01D-B599-E68D810CC7D7}"/>
              </a:ext>
            </a:extLst>
          </p:cNvPr>
          <p:cNvSpPr/>
          <p:nvPr/>
        </p:nvSpPr>
        <p:spPr>
          <a:xfrm>
            <a:off x="390448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5ABBE7EE-CC18-4560-D69A-426CC2B94C92}"/>
              </a:ext>
            </a:extLst>
          </p:cNvPr>
          <p:cNvSpPr/>
          <p:nvPr/>
        </p:nvSpPr>
        <p:spPr>
          <a:xfrm>
            <a:off x="390448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gesellig, </a:t>
            </a:r>
            <a:r>
              <a:rPr lang="en-US" sz="1600" dirty="0" err="1">
                <a:solidFill>
                  <a:srgbClr val="64748B"/>
                </a:solidFill>
              </a:rPr>
              <a:t>gesprächig</a:t>
            </a:r>
            <a:endParaRPr lang="en-US" sz="1600" dirty="0"/>
          </a:p>
        </p:txBody>
      </p:sp>
      <p:sp>
        <p:nvSpPr>
          <p:cNvPr id="20" name="Shape 28">
            <a:extLst>
              <a:ext uri="{FF2B5EF4-FFF2-40B4-BE49-F238E27FC236}">
                <a16:creationId xmlns:a16="http://schemas.microsoft.com/office/drawing/2014/main" id="{DD1246F8-18DB-7CCB-53DF-6778D1404924}"/>
              </a:ext>
            </a:extLst>
          </p:cNvPr>
          <p:cNvSpPr/>
          <p:nvPr/>
        </p:nvSpPr>
        <p:spPr>
          <a:xfrm>
            <a:off x="386791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1" name="Text 29">
            <a:extLst>
              <a:ext uri="{FF2B5EF4-FFF2-40B4-BE49-F238E27FC236}">
                <a16:creationId xmlns:a16="http://schemas.microsoft.com/office/drawing/2014/main" id="{BD4A36BD-F3F2-D66D-5218-AB030652ADA0}"/>
              </a:ext>
            </a:extLst>
          </p:cNvPr>
          <p:cNvSpPr/>
          <p:nvPr/>
        </p:nvSpPr>
        <p:spPr>
          <a:xfrm>
            <a:off x="390448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DAA762DC-58C6-F430-75E6-32B61B3E7B55}"/>
              </a:ext>
            </a:extLst>
          </p:cNvPr>
          <p:cNvSpPr/>
          <p:nvPr/>
        </p:nvSpPr>
        <p:spPr>
          <a:xfrm>
            <a:off x="390448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reserviert, ruhig</a:t>
            </a:r>
            <a:endParaRPr lang="en-US" sz="1600" dirty="0"/>
          </a:p>
        </p:txBody>
      </p:sp>
      <p:sp>
        <p:nvSpPr>
          <p:cNvPr id="27" name="Shape 35">
            <a:extLst>
              <a:ext uri="{FF2B5EF4-FFF2-40B4-BE49-F238E27FC236}">
                <a16:creationId xmlns:a16="http://schemas.microsoft.com/office/drawing/2014/main" id="{6FC57868-2FBF-C408-17C2-67DDCC6AB4F9}"/>
              </a:ext>
            </a:extLst>
          </p:cNvPr>
          <p:cNvSpPr/>
          <p:nvPr/>
        </p:nvSpPr>
        <p:spPr>
          <a:xfrm>
            <a:off x="560527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8" name="Text 36">
            <a:extLst>
              <a:ext uri="{FF2B5EF4-FFF2-40B4-BE49-F238E27FC236}">
                <a16:creationId xmlns:a16="http://schemas.microsoft.com/office/drawing/2014/main" id="{CFA9FE1A-4916-29D5-2E7C-01D9F07D1BF6}"/>
              </a:ext>
            </a:extLst>
          </p:cNvPr>
          <p:cNvSpPr/>
          <p:nvPr/>
        </p:nvSpPr>
        <p:spPr>
          <a:xfrm>
            <a:off x="564184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F422D2BE-6831-2C8A-78D7-B1E7FD2CAFE1}"/>
              </a:ext>
            </a:extLst>
          </p:cNvPr>
          <p:cNvSpPr/>
          <p:nvPr/>
        </p:nvSpPr>
        <p:spPr>
          <a:xfrm>
            <a:off x="564184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kooperativ, hilfsbereit</a:t>
            </a:r>
            <a:endParaRPr lang="en-US" sz="1600" dirty="0"/>
          </a:p>
        </p:txBody>
      </p:sp>
      <p:sp>
        <p:nvSpPr>
          <p:cNvPr id="30" name="Shape 38">
            <a:extLst>
              <a:ext uri="{FF2B5EF4-FFF2-40B4-BE49-F238E27FC236}">
                <a16:creationId xmlns:a16="http://schemas.microsoft.com/office/drawing/2014/main" id="{1B7D30DC-B0C1-54B1-91AF-68CA3737E6E3}"/>
              </a:ext>
            </a:extLst>
          </p:cNvPr>
          <p:cNvSpPr/>
          <p:nvPr/>
        </p:nvSpPr>
        <p:spPr>
          <a:xfrm>
            <a:off x="560527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EAD1202-D843-0013-8BFF-203771BEAEAC}"/>
              </a:ext>
            </a:extLst>
          </p:cNvPr>
          <p:cNvSpPr/>
          <p:nvPr/>
        </p:nvSpPr>
        <p:spPr>
          <a:xfrm>
            <a:off x="564184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4B1DA65-9036-DAF3-4AA8-629CA4EFD413}"/>
              </a:ext>
            </a:extLst>
          </p:cNvPr>
          <p:cNvSpPr/>
          <p:nvPr/>
        </p:nvSpPr>
        <p:spPr>
          <a:xfrm>
            <a:off x="564184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kompetitiv, kritisch</a:t>
            </a:r>
            <a:endParaRPr lang="en-US" sz="1600" dirty="0"/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00369D6B-D73B-803B-B4AC-47DD92FE0DB8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Die </a:t>
            </a:r>
            <a:r>
              <a:rPr lang="en-US" sz="2400" b="1" dirty="0" err="1">
                <a:solidFill>
                  <a:srgbClr val="2B5A7C"/>
                </a:solidFill>
              </a:rPr>
              <a:t>fünf</a:t>
            </a:r>
            <a:r>
              <a:rPr lang="en-US" sz="2400" b="1" dirty="0">
                <a:solidFill>
                  <a:srgbClr val="2B5A7C"/>
                </a:solidFill>
              </a:rPr>
              <a:t> </a:t>
            </a:r>
            <a:r>
              <a:rPr lang="en-US" sz="2400" b="1" dirty="0" err="1">
                <a:solidFill>
                  <a:srgbClr val="2B5A7C"/>
                </a:solidFill>
              </a:rPr>
              <a:t>Faktoren</a:t>
            </a:r>
            <a:r>
              <a:rPr lang="en-US" sz="2400" b="1" dirty="0">
                <a:solidFill>
                  <a:srgbClr val="2B5A7C"/>
                </a:solidFill>
              </a:rPr>
              <a:t>/</a:t>
            </a:r>
            <a:r>
              <a:rPr lang="en-US" sz="2400" b="1" dirty="0" err="1">
                <a:solidFill>
                  <a:srgbClr val="2B5A7C"/>
                </a:solidFill>
              </a:rPr>
              <a:t>Dimensionen</a:t>
            </a:r>
            <a:r>
              <a:rPr lang="en-US" sz="2400" b="1" dirty="0">
                <a:solidFill>
                  <a:srgbClr val="2B5A7C"/>
                </a:solidFill>
              </a:rPr>
              <a:t> im Detail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6259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836A-7876-14C1-6D79-FEFCB88F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7D3B08-FB18-3739-038B-97707E74988C}"/>
              </a:ext>
            </a:extLst>
          </p:cNvPr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5A7C"/>
                </a:solidFill>
              </a:rPr>
              <a:t>Die </a:t>
            </a:r>
            <a:r>
              <a:rPr lang="en-US" sz="2400" b="1" dirty="0" err="1">
                <a:solidFill>
                  <a:srgbClr val="2B5A7C"/>
                </a:solidFill>
              </a:rPr>
              <a:t>fünf</a:t>
            </a:r>
            <a:r>
              <a:rPr lang="en-US" sz="2400" b="1" dirty="0">
                <a:solidFill>
                  <a:srgbClr val="2B5A7C"/>
                </a:solidFill>
              </a:rPr>
              <a:t> </a:t>
            </a:r>
            <a:r>
              <a:rPr lang="en-US" sz="2400" b="1" dirty="0" err="1">
                <a:solidFill>
                  <a:srgbClr val="2B5A7C"/>
                </a:solidFill>
              </a:rPr>
              <a:t>Faktoren</a:t>
            </a:r>
            <a:r>
              <a:rPr lang="en-US" sz="2400" b="1" dirty="0">
                <a:solidFill>
                  <a:srgbClr val="2B5A7C"/>
                </a:solidFill>
              </a:rPr>
              <a:t>/</a:t>
            </a:r>
            <a:r>
              <a:rPr lang="en-US" sz="2400" b="1" dirty="0" err="1">
                <a:solidFill>
                  <a:srgbClr val="2B5A7C"/>
                </a:solidFill>
              </a:rPr>
              <a:t>Dimensionen</a:t>
            </a:r>
            <a:r>
              <a:rPr lang="en-US" sz="2400" b="1" dirty="0">
                <a:solidFill>
                  <a:srgbClr val="2B5A7C"/>
                </a:solidFill>
              </a:rPr>
              <a:t> im Detail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257FF3-AE58-BBCA-3233-674E02484E19}"/>
              </a:ext>
            </a:extLst>
          </p:cNvPr>
          <p:cNvSpPr/>
          <p:nvPr/>
        </p:nvSpPr>
        <p:spPr>
          <a:xfrm>
            <a:off x="320040" y="831669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C549D1-B802-EDAC-8674-A6C358A485E7}"/>
              </a:ext>
            </a:extLst>
          </p:cNvPr>
          <p:cNvSpPr/>
          <p:nvPr/>
        </p:nvSpPr>
        <p:spPr>
          <a:xfrm>
            <a:off x="32004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21AE4C-6D9A-E250-3F95-088FE21C45E7}"/>
              </a:ext>
            </a:extLst>
          </p:cNvPr>
          <p:cNvSpPr/>
          <p:nvPr/>
        </p:nvSpPr>
        <p:spPr>
          <a:xfrm>
            <a:off x="32004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O</a:t>
            </a:r>
            <a:endParaRPr lang="en-US" sz="4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0211FB-B31F-2FEC-6B32-27142683608A}"/>
              </a:ext>
            </a:extLst>
          </p:cNvPr>
          <p:cNvSpPr/>
          <p:nvPr/>
        </p:nvSpPr>
        <p:spPr>
          <a:xfrm>
            <a:off x="320040" y="153292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Offenheit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6629AD4-67D5-FAEA-560C-7DB7059CD2F6}"/>
              </a:ext>
            </a:extLst>
          </p:cNvPr>
          <p:cNvSpPr/>
          <p:nvPr/>
        </p:nvSpPr>
        <p:spPr>
          <a:xfrm>
            <a:off x="205740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6D64D26-41A0-2329-961F-CB56D75FE863}"/>
              </a:ext>
            </a:extLst>
          </p:cNvPr>
          <p:cNvSpPr/>
          <p:nvPr/>
        </p:nvSpPr>
        <p:spPr>
          <a:xfrm>
            <a:off x="205740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7D9B15-B1C4-5D23-3A90-205C5DB6BE4E}"/>
              </a:ext>
            </a:extLst>
          </p:cNvPr>
          <p:cNvSpPr/>
          <p:nvPr/>
        </p:nvSpPr>
        <p:spPr>
          <a:xfrm>
            <a:off x="205740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C</a:t>
            </a:r>
            <a:endParaRPr lang="en-US" sz="4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C88A98E-48ED-D1A4-ACD0-CC21A5A32E60}"/>
              </a:ext>
            </a:extLst>
          </p:cNvPr>
          <p:cNvSpPr/>
          <p:nvPr/>
        </p:nvSpPr>
        <p:spPr>
          <a:xfrm>
            <a:off x="2011680" y="150854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2B5A7C"/>
                </a:solidFill>
              </a:rPr>
              <a:t>Gewissenhaft</a:t>
            </a:r>
            <a:r>
              <a:rPr lang="en-US" sz="1600" b="1" dirty="0" err="1">
                <a:solidFill>
                  <a:srgbClr val="2B5A7C"/>
                </a:solidFill>
              </a:rPr>
              <a:t>igkeit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433D145-3AAA-E993-AF39-4B3436CD8141}"/>
              </a:ext>
            </a:extLst>
          </p:cNvPr>
          <p:cNvSpPr/>
          <p:nvPr/>
        </p:nvSpPr>
        <p:spPr>
          <a:xfrm>
            <a:off x="379476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F58867A-8048-22EB-8C4E-F026FB9ECF89}"/>
              </a:ext>
            </a:extLst>
          </p:cNvPr>
          <p:cNvSpPr/>
          <p:nvPr/>
        </p:nvSpPr>
        <p:spPr>
          <a:xfrm>
            <a:off x="379476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5EA9B9A-4EE1-ABD3-2F2B-3250BD42C9D5}"/>
              </a:ext>
            </a:extLst>
          </p:cNvPr>
          <p:cNvSpPr/>
          <p:nvPr/>
        </p:nvSpPr>
        <p:spPr>
          <a:xfrm>
            <a:off x="379476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E</a:t>
            </a:r>
            <a:endParaRPr lang="en-US" sz="4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1DEBDA7-F009-A1CD-6CD1-33A454A9823A}"/>
              </a:ext>
            </a:extLst>
          </p:cNvPr>
          <p:cNvSpPr/>
          <p:nvPr/>
        </p:nvSpPr>
        <p:spPr>
          <a:xfrm>
            <a:off x="379476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A7C"/>
                </a:solidFill>
              </a:rPr>
              <a:t>Extraversion</a:t>
            </a:r>
            <a:endParaRPr lang="en-US" sz="2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545EDB6-B42D-CC30-D00A-F280F5BCC8FB}"/>
              </a:ext>
            </a:extLst>
          </p:cNvPr>
          <p:cNvSpPr/>
          <p:nvPr/>
        </p:nvSpPr>
        <p:spPr>
          <a:xfrm>
            <a:off x="5532120" y="777240"/>
            <a:ext cx="1645920" cy="3840480"/>
          </a:xfrm>
          <a:prstGeom prst="roundRect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5DBC582-4394-5187-3C23-3120F02A925B}"/>
              </a:ext>
            </a:extLst>
          </p:cNvPr>
          <p:cNvSpPr/>
          <p:nvPr/>
        </p:nvSpPr>
        <p:spPr>
          <a:xfrm>
            <a:off x="5532120" y="777240"/>
            <a:ext cx="1645920" cy="54864"/>
          </a:xfrm>
          <a:prstGeom prst="rect">
            <a:avLst/>
          </a:prstGeom>
          <a:solidFill>
            <a:srgbClr val="2B5A7C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B9BB2A0-52D4-54E8-B72D-7CADE6285992}"/>
              </a:ext>
            </a:extLst>
          </p:cNvPr>
          <p:cNvSpPr/>
          <p:nvPr/>
        </p:nvSpPr>
        <p:spPr>
          <a:xfrm>
            <a:off x="553212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B5A7C"/>
                </a:solidFill>
              </a:rPr>
              <a:t>A</a:t>
            </a:r>
            <a:endParaRPr lang="en-US" sz="48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DD99E78-92E3-2045-7EB8-656C23DB24B4}"/>
              </a:ext>
            </a:extLst>
          </p:cNvPr>
          <p:cNvSpPr/>
          <p:nvPr/>
        </p:nvSpPr>
        <p:spPr>
          <a:xfrm>
            <a:off x="5486400" y="148720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Verträglichkeit</a:t>
            </a:r>
            <a:endParaRPr lang="en-US" sz="20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F6E4471-2B52-FF9C-E45C-8E6304D39F8F}"/>
              </a:ext>
            </a:extLst>
          </p:cNvPr>
          <p:cNvSpPr/>
          <p:nvPr/>
        </p:nvSpPr>
        <p:spPr>
          <a:xfrm>
            <a:off x="7269480" y="777240"/>
            <a:ext cx="1645920" cy="3840480"/>
          </a:xfrm>
          <a:prstGeom prst="round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2F561243-B4E4-AAA7-E832-3043FAFDC314}"/>
              </a:ext>
            </a:extLst>
          </p:cNvPr>
          <p:cNvSpPr/>
          <p:nvPr/>
        </p:nvSpPr>
        <p:spPr>
          <a:xfrm>
            <a:off x="7269480" y="777240"/>
            <a:ext cx="1645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5A1043A-C27F-B6B3-D3D9-B750FCEEFACC}"/>
              </a:ext>
            </a:extLst>
          </p:cNvPr>
          <p:cNvSpPr/>
          <p:nvPr/>
        </p:nvSpPr>
        <p:spPr>
          <a:xfrm>
            <a:off x="7269480" y="110620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97316"/>
                </a:solidFill>
              </a:rPr>
              <a:t>N</a:t>
            </a:r>
            <a:endParaRPr lang="en-US" sz="4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F60ECFD5-DAD2-7BE8-2D74-CD8C026C2472}"/>
              </a:ext>
            </a:extLst>
          </p:cNvPr>
          <p:cNvSpPr/>
          <p:nvPr/>
        </p:nvSpPr>
        <p:spPr>
          <a:xfrm>
            <a:off x="7269480" y="147196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2B5A7C"/>
                </a:solidFill>
              </a:rPr>
              <a:t>Neurotizität</a:t>
            </a:r>
            <a:endParaRPr lang="en-US" sz="20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0AA2ADC0-745F-6045-DD39-A07AEC1C56F1}"/>
              </a:ext>
            </a:extLst>
          </p:cNvPr>
          <p:cNvSpPr/>
          <p:nvPr/>
        </p:nvSpPr>
        <p:spPr>
          <a:xfrm>
            <a:off x="39319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B14C14C8-CB0F-3F3A-772B-8B87A5BD92B1}"/>
              </a:ext>
            </a:extLst>
          </p:cNvPr>
          <p:cNvSpPr/>
          <p:nvPr/>
        </p:nvSpPr>
        <p:spPr>
          <a:xfrm>
            <a:off x="42976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2C1DAC9B-7DEE-EBF3-5F9A-9EA41F9F5313}"/>
              </a:ext>
            </a:extLst>
          </p:cNvPr>
          <p:cNvSpPr/>
          <p:nvPr/>
        </p:nvSpPr>
        <p:spPr>
          <a:xfrm>
            <a:off x="42976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kreativ, neugierig, fantasievoll</a:t>
            </a:r>
            <a:endParaRPr lang="en-US" sz="16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F23BA987-3630-6E3C-430D-BDA3A6F91494}"/>
              </a:ext>
            </a:extLst>
          </p:cNvPr>
          <p:cNvSpPr/>
          <p:nvPr/>
        </p:nvSpPr>
        <p:spPr>
          <a:xfrm>
            <a:off x="39319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FE01A1E2-1680-2FE9-B160-0CD5D7AB8FF8}"/>
              </a:ext>
            </a:extLst>
          </p:cNvPr>
          <p:cNvSpPr/>
          <p:nvPr/>
        </p:nvSpPr>
        <p:spPr>
          <a:xfrm>
            <a:off x="42976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6DD8C13D-6A88-77DB-1351-80742B14131B}"/>
              </a:ext>
            </a:extLst>
          </p:cNvPr>
          <p:cNvSpPr/>
          <p:nvPr/>
        </p:nvSpPr>
        <p:spPr>
          <a:xfrm>
            <a:off x="42976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praktisch, konventionell</a:t>
            </a:r>
            <a:endParaRPr lang="en-US" sz="1600" dirty="0"/>
          </a:p>
        </p:txBody>
      </p:sp>
      <p:sp>
        <p:nvSpPr>
          <p:cNvPr id="7" name="Shape 15">
            <a:extLst>
              <a:ext uri="{FF2B5EF4-FFF2-40B4-BE49-F238E27FC236}">
                <a16:creationId xmlns:a16="http://schemas.microsoft.com/office/drawing/2014/main" id="{4F5B8148-B4D3-ED4A-4DA7-401CF21592AB}"/>
              </a:ext>
            </a:extLst>
          </p:cNvPr>
          <p:cNvSpPr/>
          <p:nvPr/>
        </p:nvSpPr>
        <p:spPr>
          <a:xfrm>
            <a:off x="213055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0EC639D5-1B1E-A5BF-2F52-FFD0CCC840AB}"/>
              </a:ext>
            </a:extLst>
          </p:cNvPr>
          <p:cNvSpPr/>
          <p:nvPr/>
        </p:nvSpPr>
        <p:spPr>
          <a:xfrm>
            <a:off x="216712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9" name="Text 17">
            <a:extLst>
              <a:ext uri="{FF2B5EF4-FFF2-40B4-BE49-F238E27FC236}">
                <a16:creationId xmlns:a16="http://schemas.microsoft.com/office/drawing/2014/main" id="{9FB89479-FE86-E91C-8B1B-0D9A30DDF7FD}"/>
              </a:ext>
            </a:extLst>
          </p:cNvPr>
          <p:cNvSpPr/>
          <p:nvPr/>
        </p:nvSpPr>
        <p:spPr>
          <a:xfrm>
            <a:off x="216712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organisiert, </a:t>
            </a:r>
            <a:r>
              <a:rPr lang="en-US" sz="1600" dirty="0" err="1">
                <a:solidFill>
                  <a:srgbClr val="64748B"/>
                </a:solidFill>
              </a:rPr>
              <a:t>zuverlässig</a:t>
            </a:r>
            <a:endParaRPr lang="en-US" sz="16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FA4C7AA5-1032-1D2F-93BB-6DC6A6575E87}"/>
              </a:ext>
            </a:extLst>
          </p:cNvPr>
          <p:cNvSpPr/>
          <p:nvPr/>
        </p:nvSpPr>
        <p:spPr>
          <a:xfrm>
            <a:off x="213055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0039D7F4-0859-3952-624F-2C8B49F24C9C}"/>
              </a:ext>
            </a:extLst>
          </p:cNvPr>
          <p:cNvSpPr/>
          <p:nvPr/>
        </p:nvSpPr>
        <p:spPr>
          <a:xfrm>
            <a:off x="216712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7206BBD1-6DE7-51EA-65C4-BF152E8E4387}"/>
              </a:ext>
            </a:extLst>
          </p:cNvPr>
          <p:cNvSpPr/>
          <p:nvPr/>
        </p:nvSpPr>
        <p:spPr>
          <a:xfrm>
            <a:off x="216712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spontan, flexibel, chaotisch</a:t>
            </a:r>
            <a:endParaRPr lang="en-US" sz="1600" dirty="0"/>
          </a:p>
        </p:txBody>
      </p:sp>
      <p:sp>
        <p:nvSpPr>
          <p:cNvPr id="17" name="Shape 25">
            <a:extLst>
              <a:ext uri="{FF2B5EF4-FFF2-40B4-BE49-F238E27FC236}">
                <a16:creationId xmlns:a16="http://schemas.microsoft.com/office/drawing/2014/main" id="{B1238DC4-6B80-7825-E37D-C64E2DE8F1E0}"/>
              </a:ext>
            </a:extLst>
          </p:cNvPr>
          <p:cNvSpPr/>
          <p:nvPr/>
        </p:nvSpPr>
        <p:spPr>
          <a:xfrm>
            <a:off x="386791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83BCA124-A084-05EF-4898-242DFE4146C4}"/>
              </a:ext>
            </a:extLst>
          </p:cNvPr>
          <p:cNvSpPr/>
          <p:nvPr/>
        </p:nvSpPr>
        <p:spPr>
          <a:xfrm>
            <a:off x="390448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B30F6EB8-FDF1-B725-827C-EDB7AF130723}"/>
              </a:ext>
            </a:extLst>
          </p:cNvPr>
          <p:cNvSpPr/>
          <p:nvPr/>
        </p:nvSpPr>
        <p:spPr>
          <a:xfrm>
            <a:off x="390448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gesellig, </a:t>
            </a:r>
            <a:r>
              <a:rPr lang="en-US" sz="1600" dirty="0" err="1">
                <a:solidFill>
                  <a:srgbClr val="64748B"/>
                </a:solidFill>
              </a:rPr>
              <a:t>gesprächig</a:t>
            </a:r>
            <a:endParaRPr lang="en-US" sz="1600" dirty="0"/>
          </a:p>
        </p:txBody>
      </p:sp>
      <p:sp>
        <p:nvSpPr>
          <p:cNvPr id="20" name="Shape 28">
            <a:extLst>
              <a:ext uri="{FF2B5EF4-FFF2-40B4-BE49-F238E27FC236}">
                <a16:creationId xmlns:a16="http://schemas.microsoft.com/office/drawing/2014/main" id="{E6786912-35A5-6872-D49A-BF3804FD25AC}"/>
              </a:ext>
            </a:extLst>
          </p:cNvPr>
          <p:cNvSpPr/>
          <p:nvPr/>
        </p:nvSpPr>
        <p:spPr>
          <a:xfrm>
            <a:off x="386791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1" name="Text 29">
            <a:extLst>
              <a:ext uri="{FF2B5EF4-FFF2-40B4-BE49-F238E27FC236}">
                <a16:creationId xmlns:a16="http://schemas.microsoft.com/office/drawing/2014/main" id="{7A1E9EE4-83C2-1136-7B5A-D8DF76183C0D}"/>
              </a:ext>
            </a:extLst>
          </p:cNvPr>
          <p:cNvSpPr/>
          <p:nvPr/>
        </p:nvSpPr>
        <p:spPr>
          <a:xfrm>
            <a:off x="390448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22" name="Text 30">
            <a:extLst>
              <a:ext uri="{FF2B5EF4-FFF2-40B4-BE49-F238E27FC236}">
                <a16:creationId xmlns:a16="http://schemas.microsoft.com/office/drawing/2014/main" id="{57514DCC-62F1-094A-C71C-A57957DAD517}"/>
              </a:ext>
            </a:extLst>
          </p:cNvPr>
          <p:cNvSpPr/>
          <p:nvPr/>
        </p:nvSpPr>
        <p:spPr>
          <a:xfrm>
            <a:off x="390448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reserviert, ruhig</a:t>
            </a:r>
            <a:endParaRPr lang="en-US" sz="1600" dirty="0"/>
          </a:p>
        </p:txBody>
      </p:sp>
      <p:sp>
        <p:nvSpPr>
          <p:cNvPr id="27" name="Shape 35">
            <a:extLst>
              <a:ext uri="{FF2B5EF4-FFF2-40B4-BE49-F238E27FC236}">
                <a16:creationId xmlns:a16="http://schemas.microsoft.com/office/drawing/2014/main" id="{3B39354C-6D32-C3B5-3DB4-9A594C80BFEA}"/>
              </a:ext>
            </a:extLst>
          </p:cNvPr>
          <p:cNvSpPr/>
          <p:nvPr/>
        </p:nvSpPr>
        <p:spPr>
          <a:xfrm>
            <a:off x="560527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28" name="Text 36">
            <a:extLst>
              <a:ext uri="{FF2B5EF4-FFF2-40B4-BE49-F238E27FC236}">
                <a16:creationId xmlns:a16="http://schemas.microsoft.com/office/drawing/2014/main" id="{66CDD1C4-2CED-2537-8392-BA791857EA05}"/>
              </a:ext>
            </a:extLst>
          </p:cNvPr>
          <p:cNvSpPr/>
          <p:nvPr/>
        </p:nvSpPr>
        <p:spPr>
          <a:xfrm>
            <a:off x="564184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8FBE717C-F373-7664-4C51-01A079E0030F}"/>
              </a:ext>
            </a:extLst>
          </p:cNvPr>
          <p:cNvSpPr/>
          <p:nvPr/>
        </p:nvSpPr>
        <p:spPr>
          <a:xfrm>
            <a:off x="5641848" y="215776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kooperativ, hilfsbereit</a:t>
            </a:r>
            <a:endParaRPr lang="en-US" sz="1600" dirty="0"/>
          </a:p>
        </p:txBody>
      </p:sp>
      <p:sp>
        <p:nvSpPr>
          <p:cNvPr id="30" name="Shape 38">
            <a:extLst>
              <a:ext uri="{FF2B5EF4-FFF2-40B4-BE49-F238E27FC236}">
                <a16:creationId xmlns:a16="http://schemas.microsoft.com/office/drawing/2014/main" id="{455CC93F-9A56-C08F-8B8A-B957307CE957}"/>
              </a:ext>
            </a:extLst>
          </p:cNvPr>
          <p:cNvSpPr/>
          <p:nvPr/>
        </p:nvSpPr>
        <p:spPr>
          <a:xfrm>
            <a:off x="560527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2F22E11-8A94-E216-7A7D-C0DB1D15C89C}"/>
              </a:ext>
            </a:extLst>
          </p:cNvPr>
          <p:cNvSpPr/>
          <p:nvPr/>
        </p:nvSpPr>
        <p:spPr>
          <a:xfrm>
            <a:off x="564184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860A4A47-47D0-B2D9-2595-50C23EE9A4AE}"/>
              </a:ext>
            </a:extLst>
          </p:cNvPr>
          <p:cNvSpPr/>
          <p:nvPr/>
        </p:nvSpPr>
        <p:spPr>
          <a:xfrm>
            <a:off x="564184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kompetitiv, kritisch</a:t>
            </a:r>
            <a:endParaRPr lang="en-US" sz="16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0F4C7A49-B346-67D7-3EA1-C488B63007A7}"/>
              </a:ext>
            </a:extLst>
          </p:cNvPr>
          <p:cNvSpPr/>
          <p:nvPr/>
        </p:nvSpPr>
        <p:spPr>
          <a:xfrm>
            <a:off x="7342632" y="183772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1B1E4C7-F385-C8A7-C03D-19E04356E4A4}"/>
              </a:ext>
            </a:extLst>
          </p:cNvPr>
          <p:cNvSpPr/>
          <p:nvPr/>
        </p:nvSpPr>
        <p:spPr>
          <a:xfrm>
            <a:off x="7379208" y="190173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HOCH</a:t>
            </a:r>
            <a:endParaRPr lang="en-US" sz="1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A50B80B-338C-5070-6AB9-2022C8623710}"/>
              </a:ext>
            </a:extLst>
          </p:cNvPr>
          <p:cNvSpPr/>
          <p:nvPr/>
        </p:nvSpPr>
        <p:spPr>
          <a:xfrm>
            <a:off x="7379208" y="2157766"/>
            <a:ext cx="15361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</a:rPr>
              <a:t>ängstlich</a:t>
            </a:r>
            <a:r>
              <a:rPr lang="en-US" sz="1600" dirty="0">
                <a:solidFill>
                  <a:srgbClr val="64748B"/>
                </a:solidFill>
              </a:rPr>
              <a:t>, stimmungslabil</a:t>
            </a:r>
            <a:endParaRPr lang="en-US" sz="16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06CF9F2-A8DB-4C25-AA4B-11815E70ABD9}"/>
              </a:ext>
            </a:extLst>
          </p:cNvPr>
          <p:cNvSpPr/>
          <p:nvPr/>
        </p:nvSpPr>
        <p:spPr>
          <a:xfrm>
            <a:off x="7342632" y="3163606"/>
            <a:ext cx="1499616" cy="12344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440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E85D5A4-2DAF-176E-B1B0-A9D2F00C54EC}"/>
              </a:ext>
            </a:extLst>
          </p:cNvPr>
          <p:cNvSpPr/>
          <p:nvPr/>
        </p:nvSpPr>
        <p:spPr>
          <a:xfrm>
            <a:off x="7379208" y="3227614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NIEDRIG</a:t>
            </a:r>
            <a:endParaRPr lang="en-US" sz="16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F827C0CD-A9E4-C508-3BFA-7C3D3B98E2EB}"/>
              </a:ext>
            </a:extLst>
          </p:cNvPr>
          <p:cNvSpPr/>
          <p:nvPr/>
        </p:nvSpPr>
        <p:spPr>
          <a:xfrm>
            <a:off x="7379208" y="3483646"/>
            <a:ext cx="142646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gelassen, belastbar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1082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B5A7C"/>
                </a:solidFill>
              </a:rPr>
              <a:t>Typen vs. </a:t>
            </a:r>
            <a:r>
              <a:rPr lang="en-US" sz="4000" b="1" dirty="0" err="1">
                <a:solidFill>
                  <a:srgbClr val="2B5A7C"/>
                </a:solidFill>
              </a:rPr>
              <a:t>Dimensionen</a:t>
            </a:r>
            <a:r>
              <a:rPr lang="en-US" sz="4000" b="1" dirty="0">
                <a:solidFill>
                  <a:srgbClr val="2B5A7C"/>
                </a:solidFill>
              </a:rPr>
              <a:t>/</a:t>
            </a:r>
            <a:r>
              <a:rPr lang="en-US" sz="4000" b="1" dirty="0" err="1">
                <a:solidFill>
                  <a:srgbClr val="2B5A7C"/>
                </a:solidFill>
              </a:rPr>
              <a:t>Faktoren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 sz="280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</a:rPr>
              <a:t>TYPOLOGIEN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(z.B. MBTI, </a:t>
            </a:r>
            <a:r>
              <a:rPr lang="en-US" sz="1200" dirty="0" err="1">
                <a:solidFill>
                  <a:srgbClr val="1E293B"/>
                </a:solidFill>
              </a:rPr>
              <a:t>Temperamente</a:t>
            </a:r>
            <a:r>
              <a:rPr lang="en-US" sz="1200" dirty="0">
                <a:solidFill>
                  <a:srgbClr val="1E293B"/>
                </a:solidFill>
              </a:rPr>
              <a:t>, Hogwarts </a:t>
            </a:r>
            <a:r>
              <a:rPr lang="en-US" sz="1200" dirty="0" err="1">
                <a:solidFill>
                  <a:srgbClr val="1E293B"/>
                </a:solidFill>
              </a:rPr>
              <a:t>Häuser</a:t>
            </a:r>
            <a:r>
              <a:rPr lang="en-US" sz="1200" dirty="0">
                <a:solidFill>
                  <a:srgbClr val="1E293B"/>
                </a:solidFill>
              </a:rPr>
              <a:t>, </a:t>
            </a:r>
            <a:r>
              <a:rPr lang="en-US" sz="1200" dirty="0" err="1">
                <a:solidFill>
                  <a:srgbClr val="1E293B"/>
                </a:solidFill>
              </a:rPr>
              <a:t>etc</a:t>
            </a:r>
            <a:r>
              <a:rPr lang="en-US" sz="1200" dirty="0">
                <a:solidFill>
                  <a:srgbClr val="1E293B"/>
                </a:solidFill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566160" cy="5486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8" name="Text 6"/>
          <p:cNvSpPr/>
          <p:nvPr/>
        </p:nvSpPr>
        <p:spPr>
          <a:xfrm>
            <a:off x="579120" y="199970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93B"/>
                </a:solidFill>
              </a:rPr>
              <a:t>"Du BIST </a:t>
            </a:r>
            <a:r>
              <a:rPr lang="en-US" b="1" dirty="0" err="1">
                <a:solidFill>
                  <a:srgbClr val="1E293B"/>
                </a:solidFill>
              </a:rPr>
              <a:t>ein</a:t>
            </a:r>
            <a:r>
              <a:rPr lang="en-US" b="1" dirty="0">
                <a:solidFill>
                  <a:srgbClr val="1E293B"/>
                </a:solidFill>
              </a:rPr>
              <a:t> INFJ” </a:t>
            </a:r>
            <a:r>
              <a:rPr lang="en-US" b="1" dirty="0" err="1">
                <a:solidFill>
                  <a:srgbClr val="1E293B"/>
                </a:solidFill>
              </a:rPr>
              <a:t>oder</a:t>
            </a:r>
            <a:r>
              <a:rPr lang="en-US" b="1" dirty="0">
                <a:solidFill>
                  <a:srgbClr val="1E293B"/>
                </a:solidFill>
              </a:rPr>
              <a:t> “Gryffindor”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Kategorien (entweder/oder)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Du bist Introvert ODER Extravert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Keine Zwischenstufen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3566160" cy="7772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C2626"/>
                </a:solidFill>
              </a:rPr>
              <a:t>I  |  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402662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Entweder links ODER rechts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3832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 sz="280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</a:rPr>
              <a:t>DIMENSIONEN/FAKTOREN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(z.B. Big Five)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965960"/>
            <a:ext cx="3566160" cy="45720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17" name="Text 15"/>
          <p:cNvSpPr/>
          <p:nvPr/>
        </p:nvSpPr>
        <p:spPr>
          <a:xfrm>
            <a:off x="4937760" y="2057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93B"/>
                </a:solidFill>
              </a:rPr>
              <a:t>"Du bist 75% extravertiert"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200" y="2514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Skalen (mehr oder weniger)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Von niedrig bis hoch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• Unendlich viele Abstufungen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3520440"/>
            <a:ext cx="3566160" cy="77724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 sz="280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6A34A"/>
                </a:solidFill>
              </a:rPr>
              <a:t>niedrig ←――――●――→ hoch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7492637" cy="76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2400" b="1" dirty="0" err="1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</a:t>
            </a:r>
            <a:r>
              <a:rPr lang="en-US" sz="2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 MBTI / 16 Personalities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4583" y="1214362"/>
            <a:ext cx="7161711" cy="800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2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die Erklärungen dem richtigen Problem zu!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66700" y="1671786"/>
            <a:ext cx="3688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6700" y="1900386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1950" y="1976586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Kategorisierung statt Dimensionen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6700" y="2256532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1950" y="2332732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Geringe Test-Retest-Reliabilität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6700" y="2612678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1950" y="2688878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Fragwürdige Validität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6700" y="2968823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950" y="3045023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Keine wissenschaftliche Grundlage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6700" y="3324969"/>
            <a:ext cx="3616375" cy="298996"/>
          </a:xfrm>
          <a:prstGeom prst="roundRect">
            <a:avLst>
              <a:gd name="adj" fmla="val 15928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61950" y="3401169"/>
            <a:ext cx="3494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Barnum-Effekt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35475" y="1704975"/>
            <a:ext cx="49386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ERKLÄRUNGEN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35475" y="19335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049762" y="19335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18" name="Text 16"/>
          <p:cNvSpPr/>
          <p:nvPr/>
        </p:nvSpPr>
        <p:spPr>
          <a:xfrm>
            <a:off x="4159300" y="2009775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Bis zu 50% erhalten bei Wiederholung einen anderen Typ.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35475" y="22764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4049762" y="22764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21" name="Text 19"/>
          <p:cNvSpPr/>
          <p:nvPr/>
        </p:nvSpPr>
        <p:spPr>
          <a:xfrm>
            <a:off x="4159300" y="2306911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Typbeschreibungen sind so allgemein, dass sich fast jeder darin wiederfindet.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35475" y="26193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4049762" y="26193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24" name="Text 22"/>
          <p:cNvSpPr/>
          <p:nvPr/>
        </p:nvSpPr>
        <p:spPr>
          <a:xfrm>
            <a:off x="4159300" y="2649811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Menschen werden in Typen eingeteilt, obwohl Merkmale kontinuierlich verteilt sind.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35475" y="29622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6" name="Shape 24"/>
          <p:cNvSpPr/>
          <p:nvPr/>
        </p:nvSpPr>
        <p:spPr>
          <a:xfrm>
            <a:off x="4049762" y="29622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27" name="Text 25"/>
          <p:cNvSpPr/>
          <p:nvPr/>
        </p:nvSpPr>
        <p:spPr>
          <a:xfrm>
            <a:off x="4159300" y="2986240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Test basiert auf Jungs spekulativer Theorie, nicht auf Faktorenanalyse.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35475" y="3305175"/>
            <a:ext cx="4841825" cy="285750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29" name="Shape 27"/>
          <p:cNvSpPr/>
          <p:nvPr/>
        </p:nvSpPr>
        <p:spPr>
          <a:xfrm>
            <a:off x="4049762" y="3305175"/>
            <a:ext cx="0" cy="28575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4000"/>
          </a:p>
        </p:txBody>
      </p:sp>
      <p:sp>
        <p:nvSpPr>
          <p:cNvPr id="30" name="Text 28"/>
          <p:cNvSpPr/>
          <p:nvPr/>
        </p:nvSpPr>
        <p:spPr>
          <a:xfrm>
            <a:off x="4159300" y="3381375"/>
            <a:ext cx="47152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Die vier Dimensionen korrelieren nicht gut mit etablierten Modellen.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699" y="266699"/>
            <a:ext cx="7788729" cy="25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Probleme des MBTI / 16 Personalities</a:t>
            </a:r>
            <a:endParaRPr lang="en-US" sz="2400" dirty="0"/>
          </a:p>
        </p:txBody>
      </p:sp>
      <p:pic>
        <p:nvPicPr>
          <p:cNvPr id="3" name="Image 0" descr="/tmp/rasterized-gradient-8c71bd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690699"/>
            <a:ext cx="8610600" cy="377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6042" y="846908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C | 2 = A | 3 = E | 4 = D | 5 = B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66700" y="1864148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90525" y="184308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95325" y="1874491"/>
            <a:ext cx="17756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Kategorisierung statt Dimensionen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31418" y="1881187"/>
            <a:ext cx="627654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Menschen werden in Typen eingeteilt, obwohl Merkmale kontinuierlich verteilt sind.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66700" y="2273723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90525" y="225266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95325" y="228406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Geringe Test-Retest-Reliabilität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05075" y="2290762"/>
            <a:ext cx="441891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zu 50% erhalten bei Wiederholung einen anderen Typ!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6700" y="2683298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90525" y="2662238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95325" y="2693641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Fragwürdige Validität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05074" y="2700337"/>
            <a:ext cx="6069751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vier Dimensionen korrelieren nicht gut mit etablierten Modellen wie Big Five.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66700" y="3092873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90525" y="3071813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695325" y="3103216"/>
            <a:ext cx="1799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wissenschaftliche Grundlage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54932" y="3109912"/>
            <a:ext cx="5952428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Basiert auf Jungs (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spekulativer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menschlichen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Archetypen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nicht auf empirischer Faktorenanalyse.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66700" y="3502448"/>
            <a:ext cx="8610600" cy="361950"/>
          </a:xfrm>
          <a:prstGeom prst="roundRect">
            <a:avLst>
              <a:gd name="adj" fmla="val 1315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390525" y="3556286"/>
            <a:ext cx="209550" cy="209550"/>
          </a:xfrm>
          <a:prstGeom prst="roundRect">
            <a:avLst>
              <a:gd name="adj" fmla="val 18182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95325" y="3587689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Barnum-Effekt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05074" y="3578648"/>
            <a:ext cx="6181450" cy="209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Typbeschreibungen sind so allgemein, dass sich fast jeder darin wiederfindet.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66700" y="4572000"/>
            <a:ext cx="8610600" cy="304800"/>
          </a:xfrm>
          <a:prstGeom prst="roundRect">
            <a:avLst>
              <a:gd name="adj" fmla="val 15625"/>
            </a:avLst>
          </a:prstGeom>
          <a:solidFill>
            <a:srgbClr val="FFF3E0"/>
          </a:solidFill>
          <a:ln w="9525">
            <a:solidFill>
              <a:srgbClr val="E07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390525" y="4657725"/>
            <a:ext cx="8530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6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 Personalities ist unterhaltsam, aber erfüllt nicht die wissenschaftlichen Gütekriterien!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7832271" cy="244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450"/>
              </a:spcAft>
              <a:buNone/>
            </a:pPr>
            <a:r>
              <a:rPr lang="en-US" sz="20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Zuordnung: Wissenschaftlich vs. Populärwissenschaftlich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30003" y="817736"/>
            <a:ext cx="75601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 zu: </a:t>
            </a:r>
            <a:r>
              <a:rPr lang="en-US" sz="10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= </a:t>
            </a:r>
            <a:r>
              <a:rPr lang="en-US" sz="10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Wissenschaftlich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 = Populärwissenschaftlich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66700" y="112395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1000" y="120015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0100" y="1279178"/>
            <a:ext cx="7577976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Theoretische Basis: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Basiert auf empirisch überprüften Modellen (z.B. Big Five)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6700" y="163830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1000" y="17145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0100" y="1793528"/>
            <a:ext cx="4900374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 intuitiv oder kommerziell motiviert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6700" y="215265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1000" y="222885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00100" y="2307878"/>
            <a:ext cx="8062602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Objektivität, Reliabilität und Validität sind nachgewiesen und publiziert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6700" y="266700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1000" y="27432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00100" y="2822228"/>
            <a:ext cx="6691118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Ergebnisformat: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Kategoriale „Typen" mit pauschalen Beschreibungen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6700" y="318135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1000" y="325755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0100" y="3336578"/>
            <a:ext cx="6019817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wissenschaftlichen Fachzeitschriften publiziert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6700" y="3695700"/>
            <a:ext cx="8610600" cy="457200"/>
          </a:xfrm>
          <a:prstGeom prst="roundRect">
            <a:avLst>
              <a:gd name="adj" fmla="val 104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1000" y="3771900"/>
            <a:ext cx="304800" cy="304800"/>
          </a:xfrm>
          <a:prstGeom prst="roundRect">
            <a:avLst>
              <a:gd name="adj" fmla="val 15625"/>
            </a:avLst>
          </a:prstGeom>
          <a:solidFill>
            <a:srgbClr val="E8E8E8"/>
          </a:solidFill>
          <a:ln w="19050">
            <a:solidFill>
              <a:srgbClr val="9999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0100" y="3850928"/>
            <a:ext cx="5905500" cy="16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Transparenz:</a:t>
            </a: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„Black Box" – Auswertung nicht nachvollziehbar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8320709" cy="645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 Wissenschaftlich vs. </a:t>
            </a:r>
            <a:r>
              <a:rPr lang="en-US" sz="2800" b="1" dirty="0" err="1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Populärwissenschaftlich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66700" y="1320254"/>
            <a:ext cx="4238625" cy="312390"/>
          </a:xfrm>
          <a:prstGeom prst="roundRect">
            <a:avLst>
              <a:gd name="adj" fmla="val 15245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0900" y="1396454"/>
            <a:ext cx="4090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Wissenschaftlicher Test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66700" y="16707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80988" y="16707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7" name="Text 5"/>
          <p:cNvSpPr/>
          <p:nvPr/>
        </p:nvSpPr>
        <p:spPr>
          <a:xfrm>
            <a:off x="390525" y="1737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Empirisch überprüft (z.B. Big Five)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6700" y="19755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80988" y="19755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0" name="Text 8"/>
          <p:cNvSpPr/>
          <p:nvPr/>
        </p:nvSpPr>
        <p:spPr>
          <a:xfrm>
            <a:off x="390525" y="20422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Systematisch durch Faktorenanalyse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6700" y="22803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80988" y="22803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3" name="Text 11"/>
          <p:cNvSpPr/>
          <p:nvPr/>
        </p:nvSpPr>
        <p:spPr>
          <a:xfrm>
            <a:off x="390525" y="23470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O-R-V nachgewiesen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6700" y="25851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280988" y="25851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6" name="Text 14"/>
          <p:cNvSpPr/>
          <p:nvPr/>
        </p:nvSpPr>
        <p:spPr>
          <a:xfrm>
            <a:off x="390525" y="26518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Dimensionale Profile + Normen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6700" y="28899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280988" y="28899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19" name="Text 17"/>
          <p:cNvSpPr/>
          <p:nvPr/>
        </p:nvSpPr>
        <p:spPr>
          <a:xfrm>
            <a:off x="390525" y="29566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Fachzeitschriften publiziert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6700" y="3194745"/>
            <a:ext cx="4238625" cy="266700"/>
          </a:xfrm>
          <a:prstGeom prst="rect">
            <a:avLst/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280988" y="3194745"/>
            <a:ext cx="0" cy="266700"/>
          </a:xfrm>
          <a:prstGeom prst="line">
            <a:avLst/>
          </a:prstGeom>
          <a:noFill/>
          <a:ln w="28575">
            <a:solidFill>
              <a:srgbClr val="1D3557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22" name="Text 20"/>
          <p:cNvSpPr/>
          <p:nvPr/>
        </p:nvSpPr>
        <p:spPr>
          <a:xfrm>
            <a:off x="390525" y="3261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Testmanual verfügbar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6700" y="3537645"/>
            <a:ext cx="4238625" cy="215205"/>
          </a:xfrm>
          <a:prstGeom prst="roundRect">
            <a:avLst>
              <a:gd name="adj" fmla="val 17704"/>
            </a:avLst>
          </a:prstGeom>
          <a:solidFill>
            <a:srgbClr val="1D355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21469" y="3585270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NEO-PI-R, HEXACO, FPI-R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38675" y="1320254"/>
            <a:ext cx="4238625" cy="312390"/>
          </a:xfrm>
          <a:prstGeom prst="roundRect">
            <a:avLst>
              <a:gd name="adj" fmla="val 15245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712875" y="1396454"/>
            <a:ext cx="4090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Populärwissenschaftlicher Test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38675" y="16707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4652963" y="16707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29" name="Text 27"/>
          <p:cNvSpPr/>
          <p:nvPr/>
        </p:nvSpPr>
        <p:spPr>
          <a:xfrm>
            <a:off x="4762500" y="1737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 keine oder veraltete Grundlage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38675" y="19755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4652963" y="19755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32" name="Text 30"/>
          <p:cNvSpPr/>
          <p:nvPr/>
        </p:nvSpPr>
        <p:spPr>
          <a:xfrm>
            <a:off x="4762500" y="20422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Intuitiv oder kommerziell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38675" y="22803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4652963" y="22803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35" name="Text 33"/>
          <p:cNvSpPr/>
          <p:nvPr/>
        </p:nvSpPr>
        <p:spPr>
          <a:xfrm>
            <a:off x="4762500" y="23470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Unbekannt oder mangelhaft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38675" y="25851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4652963" y="25851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38" name="Text 36"/>
          <p:cNvSpPr/>
          <p:nvPr/>
        </p:nvSpPr>
        <p:spPr>
          <a:xfrm>
            <a:off x="4762500" y="26518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Kategoriale „Typen"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38675" y="28899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4652963" y="28899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41" name="Text 39"/>
          <p:cNvSpPr/>
          <p:nvPr/>
        </p:nvSpPr>
        <p:spPr>
          <a:xfrm>
            <a:off x="4762500" y="29566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Keine unabhängige Prüfung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38675" y="3194745"/>
            <a:ext cx="4238625" cy="266700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3" name="Shape 41"/>
          <p:cNvSpPr/>
          <p:nvPr/>
        </p:nvSpPr>
        <p:spPr>
          <a:xfrm>
            <a:off x="4652963" y="3194745"/>
            <a:ext cx="0" cy="266700"/>
          </a:xfrm>
          <a:prstGeom prst="line">
            <a:avLst/>
          </a:prstGeom>
          <a:noFill/>
          <a:ln w="28575">
            <a:solidFill>
              <a:srgbClr val="E07A5F"/>
            </a:solidFill>
            <a:prstDash val="solid"/>
          </a:ln>
        </p:spPr>
        <p:txBody>
          <a:bodyPr/>
          <a:lstStyle/>
          <a:p>
            <a:endParaRPr lang="de-DE" sz="3600"/>
          </a:p>
        </p:txBody>
      </p:sp>
      <p:sp>
        <p:nvSpPr>
          <p:cNvPr id="44" name="Text 42"/>
          <p:cNvSpPr/>
          <p:nvPr/>
        </p:nvSpPr>
        <p:spPr>
          <a:xfrm>
            <a:off x="4762500" y="3261420"/>
            <a:ext cx="4099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00" b="1" dirty="0">
                <a:solidFill>
                  <a:srgbClr val="E0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Transparenz:</a:t>
            </a: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„Black Box"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38675" y="3537645"/>
            <a:ext cx="4238625" cy="215205"/>
          </a:xfrm>
          <a:prstGeom prst="roundRect">
            <a:avLst>
              <a:gd name="adj" fmla="val 17704"/>
            </a:avLst>
          </a:prstGeom>
          <a:solidFill>
            <a:srgbClr val="E07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4693444" y="3585270"/>
            <a:ext cx="4129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z.B. 16 Personalities, Buzzfeed-Quiz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66700" y="4577804"/>
            <a:ext cx="8610600" cy="298996"/>
          </a:xfrm>
          <a:prstGeom prst="roundRect">
            <a:avLst>
              <a:gd name="adj" fmla="val 1592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297180" y="46540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Lösung: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= W | 2 = P | 3 = W | 4 = P | 5 = W | 6 = P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Prinzipien der TESTENTWICKLUNG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1353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ist ein Konstrukt?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2130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ist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Dimension/Faktor?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2907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schreibt man gute Items?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36850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bedeutet +/- Polung?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502920" cy="50292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4462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wird ausgewertet?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76ABD-4F78-5030-6E16-8B0A65EA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1B1983-0EB2-4D09-3772-6363ED004DD0}"/>
              </a:ext>
            </a:extLst>
          </p:cNvPr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621AD7-EB7C-02A4-67E6-065FED45B8AD}"/>
              </a:ext>
            </a:extLst>
          </p:cNvPr>
          <p:cNvSpPr/>
          <p:nvPr/>
        </p:nvSpPr>
        <p:spPr>
          <a:xfrm>
            <a:off x="365760" y="3474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1AFAF9-1CF9-B46B-1E90-7FEDFB798A29}"/>
              </a:ext>
            </a:extLst>
          </p:cNvPr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ist ein Konstrukt?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0901F1-74E8-79B4-3AAC-F66FBA82AAEF}"/>
              </a:ext>
            </a:extLst>
          </p:cNvPr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Ausgangspunkt jeder Testentwicklung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51D0040-9759-9BB1-CD97-9E2A3247446A}"/>
              </a:ext>
            </a:extLst>
          </p:cNvPr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5E028AF-1700-D507-5232-4B24A86C9936}"/>
              </a:ext>
            </a:extLst>
          </p:cNvPr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 Konstrukt ist das, was man messen will.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7FEF73C-728E-C8E5-2F6B-93713AA34E37}"/>
              </a:ext>
            </a:extLst>
          </p:cNvPr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 ist das übergeordnete Phänomen, das der Test erfassen soll – nicht direkt beobachtbar, aber durch Verhalten erschließbar.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6442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8EE8D-4B81-A314-E72A-DF2140683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5775F3-F33F-DEB3-EA26-F52929F315C1}"/>
              </a:ext>
            </a:extLst>
          </p:cNvPr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43ADF2-B247-6F9C-8686-AE5E82990BC4}"/>
              </a:ext>
            </a:extLst>
          </p:cNvPr>
          <p:cNvSpPr/>
          <p:nvPr/>
        </p:nvSpPr>
        <p:spPr>
          <a:xfrm>
            <a:off x="365760" y="3474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CA4362-982B-76BF-A417-DE9D6B9C9514}"/>
              </a:ext>
            </a:extLst>
          </p:cNvPr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ist ein Konstrukt?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61052B-67BD-2C4E-5095-EBCF3165ADC0}"/>
              </a:ext>
            </a:extLst>
          </p:cNvPr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Ausgangspunkt jeder Testentwicklung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CE5C6F9-4D13-5BD4-14F6-EF499E5F6A15}"/>
              </a:ext>
            </a:extLst>
          </p:cNvPr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4B387C-01EE-A885-160F-34704BCB755B}"/>
              </a:ext>
            </a:extLst>
          </p:cNvPr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 Konstrukt ist das, was man messen will.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93F249-01D8-5A1D-2E57-59B939AC57B3}"/>
              </a:ext>
            </a:extLst>
          </p:cNvPr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 ist das übergeordnete Phänomen, das der Test erfassen soll – nicht direkt beobachtbar, aber durch Verhalten erschließbar.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91F70B-3BAD-7FB2-F473-DEFB628310C7}"/>
              </a:ext>
            </a:extLst>
          </p:cNvPr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Beispiele für Konstrukte: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5385D7-1429-86FB-9411-2D682AF1FAA1}"/>
              </a:ext>
            </a:extLst>
          </p:cNvPr>
          <p:cNvSpPr/>
          <p:nvPr/>
        </p:nvSpPr>
        <p:spPr>
          <a:xfrm>
            <a:off x="64008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8EC88DC-1509-1895-057E-7985C0F9FFBC}"/>
              </a:ext>
            </a:extLst>
          </p:cNvPr>
          <p:cNvSpPr/>
          <p:nvPr/>
        </p:nvSpPr>
        <p:spPr>
          <a:xfrm>
            <a:off x="9144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008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Persönlichkeit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80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FA100F3-B7BC-D515-FEF0-24C704238CDE}"/>
              </a:ext>
            </a:extLst>
          </p:cNvPr>
          <p:cNvSpPr/>
          <p:nvPr/>
        </p:nvSpPr>
        <p:spPr>
          <a:xfrm>
            <a:off x="32004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Big Five misst dieses Konstrukt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20E3BC5-9E78-2884-D3B2-20B569C90047}"/>
              </a:ext>
            </a:extLst>
          </p:cNvPr>
          <p:cNvSpPr/>
          <p:nvPr/>
        </p:nvSpPr>
        <p:spPr>
          <a:xfrm>
            <a:off x="64008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FC2388E-AFB6-C54B-80AF-4614BEDF18C2}"/>
              </a:ext>
            </a:extLst>
          </p:cNvPr>
          <p:cNvSpPr/>
          <p:nvPr/>
        </p:nvSpPr>
        <p:spPr>
          <a:xfrm>
            <a:off x="9144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Intelligenz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23D4BCF-70F9-DBE6-F13B-7FD013DB2FE9}"/>
              </a:ext>
            </a:extLst>
          </p:cNvPr>
          <p:cNvSpPr/>
          <p:nvPr/>
        </p:nvSpPr>
        <p:spPr>
          <a:xfrm>
            <a:off x="320040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IQ-Tests messen dieses Konstrukt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D194BDB-B6B7-4E75-0929-507A86536139}"/>
              </a:ext>
            </a:extLst>
          </p:cNvPr>
          <p:cNvSpPr/>
          <p:nvPr/>
        </p:nvSpPr>
        <p:spPr>
          <a:xfrm>
            <a:off x="64008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A080C49-FE04-246A-4040-3F97AF83A869}"/>
              </a:ext>
            </a:extLst>
          </p:cNvPr>
          <p:cNvSpPr/>
          <p:nvPr/>
        </p:nvSpPr>
        <p:spPr>
          <a:xfrm>
            <a:off x="9144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Unterrichtsstil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498F3E-8CB9-8766-032A-D84F618BE981}"/>
              </a:ext>
            </a:extLst>
          </p:cNvPr>
          <p:cNvSpPr/>
          <p:nvPr/>
        </p:nvSpPr>
        <p:spPr>
          <a:xfrm>
            <a:off x="32004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ein Lehrer-Test könnte das messen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B132783-0604-4588-7AF9-3C800F9D77EA}"/>
              </a:ext>
            </a:extLst>
          </p:cNvPr>
          <p:cNvSpPr/>
          <p:nvPr/>
        </p:nvSpPr>
        <p:spPr>
          <a:xfrm>
            <a:off x="640080" y="3977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1F303BA-5CA2-3679-7A2F-8B7376BEFC3B}"/>
              </a:ext>
            </a:extLst>
          </p:cNvPr>
          <p:cNvSpPr/>
          <p:nvPr/>
        </p:nvSpPr>
        <p:spPr>
          <a:xfrm>
            <a:off x="91440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Lernverhalten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386753A-F905-5691-320F-078AC70C7213}"/>
              </a:ext>
            </a:extLst>
          </p:cNvPr>
          <p:cNvSpPr/>
          <p:nvPr/>
        </p:nvSpPr>
        <p:spPr>
          <a:xfrm>
            <a:off x="32004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ein Schüler-Test könnte das messen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0B3F732F-B942-220A-9224-26A7D116E53B}"/>
              </a:ext>
            </a:extLst>
          </p:cNvPr>
          <p:cNvSpPr/>
          <p:nvPr/>
        </p:nvSpPr>
        <p:spPr>
          <a:xfrm>
            <a:off x="9144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B2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Niveau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Englisch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3278B603-D713-7123-DC1B-0D9509EFCEFE}"/>
              </a:ext>
            </a:extLst>
          </p:cNvPr>
          <p:cNvSpPr/>
          <p:nvPr/>
        </p:nvSpPr>
        <p:spPr>
          <a:xfrm>
            <a:off x="640080" y="43717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BC3EFB16-A94D-F2A0-C29A-3FA3920266D8}"/>
              </a:ext>
            </a:extLst>
          </p:cNvPr>
          <p:cNvSpPr/>
          <p:nvPr/>
        </p:nvSpPr>
        <p:spPr>
          <a:xfrm>
            <a:off x="3200400" y="44065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Standartisierte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Reifeprüfung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Englisch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6155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ist ein Konstrukt?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Ausgangspunkt jeder Testentwicklung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E8F5E9"/>
          </a:solidFill>
          <a:ln w="381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 Konstrukt ist das, was man messen will.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 ist das übergeordnete Phänomen, das der Test erfassen soll – nicht direkt beobachtbar, aber durch Verhalten erschließbar.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Beispiele für Konstrukte: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80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Persönlichkeit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0080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Big Five misst dieses Konstrukt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Intelligenz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IQ-Tests messen dieses Konstrukt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Unterrichtsstil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004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ein Lehrer-Test könnte das messen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Lernverhalten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ein Schüler-Test könnte das messen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618F10DB-8F01-F076-5EB7-34BEFE6F8AB1}"/>
              </a:ext>
            </a:extLst>
          </p:cNvPr>
          <p:cNvSpPr/>
          <p:nvPr/>
        </p:nvSpPr>
        <p:spPr>
          <a:xfrm>
            <a:off x="9144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B2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Niveau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Englisch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3542649-A81A-91B7-B484-341501E45965}"/>
              </a:ext>
            </a:extLst>
          </p:cNvPr>
          <p:cNvSpPr/>
          <p:nvPr/>
        </p:nvSpPr>
        <p:spPr>
          <a:xfrm>
            <a:off x="640080" y="437170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D5895BE5-1D9C-8AC3-74CF-C630B4049C58}"/>
              </a:ext>
            </a:extLst>
          </p:cNvPr>
          <p:cNvSpPr/>
          <p:nvPr/>
        </p:nvSpPr>
        <p:spPr>
          <a:xfrm>
            <a:off x="3200400" y="44065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Standartisierte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Reifeprüfung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Englisch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e Legende 26">
            <a:extLst>
              <a:ext uri="{FF2B5EF4-FFF2-40B4-BE49-F238E27FC236}">
                <a16:creationId xmlns:a16="http://schemas.microsoft.com/office/drawing/2014/main" id="{1E253FED-A30F-F8E2-CDD0-6582FB13A5F4}"/>
              </a:ext>
            </a:extLst>
          </p:cNvPr>
          <p:cNvSpPr/>
          <p:nvPr/>
        </p:nvSpPr>
        <p:spPr>
          <a:xfrm>
            <a:off x="1948543" y="451756"/>
            <a:ext cx="5736771" cy="2245724"/>
          </a:xfrm>
          <a:prstGeom prst="wedgeEllipseCallout">
            <a:avLst>
              <a:gd name="adj1" fmla="val -49486"/>
              <a:gd name="adj2" fmla="val 518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dirty="0"/>
              <a:t>Themenblock 5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399" y="320040"/>
            <a:ext cx="81098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Vom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Konstrukt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Dimension/Faktor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zum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Item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 Hierarchie eines psychologischen Tests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743200" cy="640080"/>
          </a:xfrm>
          <a:prstGeom prst="roundRect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KONSTRUKT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4340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371600" y="2194560"/>
            <a:ext cx="2011680" cy="548640"/>
          </a:xfrm>
          <a:prstGeom prst="roundRect">
            <a:avLst/>
          </a:prstGeom>
          <a:solidFill>
            <a:srgbClr val="1976D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566160" y="2194560"/>
            <a:ext cx="2011680" cy="548640"/>
          </a:xfrm>
          <a:prstGeom prst="roundRect">
            <a:avLst/>
          </a:prstGeom>
          <a:solidFill>
            <a:srgbClr val="1976D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60720" y="2194560"/>
            <a:ext cx="2011680" cy="548640"/>
          </a:xfrm>
          <a:prstGeom prst="roundRect">
            <a:avLst/>
          </a:prstGeom>
          <a:solidFill>
            <a:srgbClr val="1976D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60720" y="2286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 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4884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4340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3796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↓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97280" y="3063240"/>
            <a:ext cx="640080" cy="4572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828800" y="3063240"/>
            <a:ext cx="640080" cy="45720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2880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60320" y="3063240"/>
            <a:ext cx="640080" cy="4572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6032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640080" cy="4572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9184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023360" y="3063240"/>
            <a:ext cx="640080" cy="4572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02336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640080" cy="45720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75488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0" y="3063240"/>
            <a:ext cx="640080" cy="4572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48640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217920" y="3063240"/>
            <a:ext cx="640080" cy="45720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1792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949440" y="3063240"/>
            <a:ext cx="640080" cy="4572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4944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004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2743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Konstrukt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486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will ich messen?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00400" y="3977640"/>
            <a:ext cx="2743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9184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/Faktor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2918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Welche Aspekte hat das?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943600" y="3977640"/>
            <a:ext cx="27432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451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3504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8B451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035040" y="4297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Konkrete Fragen/Aussagen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457200" cy="45720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Beispiel: Big Five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48640"/>
          </a:xfrm>
          <a:prstGeom prst="roundRect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Konstrukt: PERSÖNLICHKEIT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 Big Five messen das Konstrukt "Persönlichkeit" durch 5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Faktoren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65176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Extraversion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Beispiel-Item: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bin gerne auf Partys."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65176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Gewissenhaftigkeit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Beispiel-Item: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2697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erledige Aufgaben sofort."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65176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Offenheit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Beispiel-Item: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0" y="2697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probiere gerne Neues."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265176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Verträglichkeit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Beispiel-Item: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helfe anderen gerne."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91840" y="3200400"/>
            <a:ext cx="2651760" cy="10058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Neurotizismus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0" y="3657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Beispiel-Item: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83280" y="38862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mache mir oft Sorgen."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 5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Dimensionen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Faktoren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zusammen erfassen das Konstrukt "Persönlichkeit"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0371" y="365760"/>
            <a:ext cx="86976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bestimme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ich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Dimension /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Faktor?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 = Faktor?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1945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FAKTOR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statistische Begriff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Kommt aus der Faktorenanalyse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Wird durch Korrelationen zwischen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vielen Items "entdeckt"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psychologische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Begriff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Beschreibt einen Aspekt des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Konstrukts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Betont das Kontinuum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(z.B. introvertiert ↔ extravertiert)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6052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0FEAE-DC30-5083-D606-0EC243338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43E0C9-DADB-D340-1E3B-E69AA6FA9471}"/>
              </a:ext>
            </a:extLst>
          </p:cNvPr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 = Faktor?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1E33CC-2244-D7C3-9886-F1E495CFE5DE}"/>
              </a:ext>
            </a:extLst>
          </p:cNvPr>
          <p:cNvSpPr/>
          <p:nvPr/>
        </p:nvSpPr>
        <p:spPr>
          <a:xfrm>
            <a:off x="457200" y="1280160"/>
            <a:ext cx="3931920" cy="219456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73C69B-E0FE-E168-641E-8ADCCF1D19D2}"/>
              </a:ext>
            </a:extLst>
          </p:cNvPr>
          <p:cNvSpPr/>
          <p:nvPr/>
        </p:nvSpPr>
        <p:spPr>
          <a:xfrm>
            <a:off x="64008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FAKTOR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EAB8ED-8652-A574-DC07-726BF470455C}"/>
              </a:ext>
            </a:extLst>
          </p:cNvPr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statistische Begriff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D9E683D-1BAA-D70F-8C8D-B7EED29332DA}"/>
              </a:ext>
            </a:extLst>
          </p:cNvPr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Kommt aus der Faktorenanalyse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458450-8B35-19BD-DDCB-44AE54DBEDEE}"/>
              </a:ext>
            </a:extLst>
          </p:cNvPr>
          <p:cNvSpPr/>
          <p:nvPr/>
        </p:nvSpPr>
        <p:spPr>
          <a:xfrm>
            <a:off x="64008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Wird durch Korrelationen zwischen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vielen Items "entdeckt"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6C6197A-4114-7040-F62E-F73FD4414F49}"/>
              </a:ext>
            </a:extLst>
          </p:cNvPr>
          <p:cNvSpPr/>
          <p:nvPr/>
        </p:nvSpPr>
        <p:spPr>
          <a:xfrm>
            <a:off x="4754880" y="1280160"/>
            <a:ext cx="3931920" cy="219456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00910BD-BEFC-BF1D-0D2E-C816B6C28B47}"/>
              </a:ext>
            </a:extLst>
          </p:cNvPr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93EDDD-D6E0-EEA3-DD1E-C35DF2C39F3E}"/>
              </a:ext>
            </a:extLst>
          </p:cNvPr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Der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psychologische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Begriff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7F28FD-726F-A631-FD10-C0D9971B325D}"/>
              </a:ext>
            </a:extLst>
          </p:cNvPr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Beschreibt einen Aspekt des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Konstrukts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736E5D-6385-EFEE-CC5F-49B4F6F00E50}"/>
              </a:ext>
            </a:extLst>
          </p:cNvPr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Betont das Kontinuum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(z.B. introvertiert ↔ extravertiert)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108F3E1-8C4C-F8CD-8ED0-B24A793FD279}"/>
              </a:ext>
            </a:extLst>
          </p:cNvPr>
          <p:cNvSpPr/>
          <p:nvPr/>
        </p:nvSpPr>
        <p:spPr>
          <a:xfrm>
            <a:off x="4160520" y="21031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B462E082-06B0-ACDE-FF7F-F31778AF47D9}"/>
              </a:ext>
            </a:extLst>
          </p:cNvPr>
          <p:cNvSpPr/>
          <p:nvPr/>
        </p:nvSpPr>
        <p:spPr>
          <a:xfrm>
            <a:off x="457200" y="3863340"/>
            <a:ext cx="8229600" cy="6400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de-DE" sz="2400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5FD3B158-414D-DA1D-D5F6-660FA69170EC}"/>
              </a:ext>
            </a:extLst>
          </p:cNvPr>
          <p:cNvSpPr/>
          <p:nvPr/>
        </p:nvSpPr>
        <p:spPr>
          <a:xfrm>
            <a:off x="640080" y="39547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1D1D"/>
                </a:solidFill>
              </a:rPr>
              <a:t>In der Praxis </a:t>
            </a:r>
            <a:r>
              <a:rPr lang="en-US" b="1" dirty="0" err="1">
                <a:solidFill>
                  <a:srgbClr val="1D1D1D"/>
                </a:solidFill>
              </a:rPr>
              <a:t>gleichbedeutend</a:t>
            </a:r>
            <a:r>
              <a:rPr lang="en-US" b="1" dirty="0">
                <a:solidFill>
                  <a:srgbClr val="1D1D1D"/>
                </a:solidFill>
              </a:rPr>
              <a:t>: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D1D1D"/>
                </a:solidFill>
              </a:rPr>
              <a:t>"Die Big Five haben 5 Faktoren" = "Die Big Five haben 5 Dimensionen"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785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85EAB-2182-14A0-371B-CF418ED76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6551E36-4DAD-653D-7D9A-16FC5F261E81}"/>
              </a:ext>
            </a:extLst>
          </p:cNvPr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 Kontinuum zwischen zwei Polen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E5C18184-2732-A6EB-1ECB-F5DAEFF090BE}"/>
              </a:ext>
            </a:extLst>
          </p:cNvPr>
          <p:cNvSpPr/>
          <p:nvPr/>
        </p:nvSpPr>
        <p:spPr>
          <a:xfrm>
            <a:off x="250371" y="365760"/>
            <a:ext cx="86976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bestimme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ich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Dimension /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Faktor?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468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77464-3F16-4514-28C6-31BC8A67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28DA4EE-F5AA-DFB1-5D16-50E4A420A003}"/>
              </a:ext>
            </a:extLst>
          </p:cNvPr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 Kontinuum zwischen zwei Polen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176E69-25DB-F707-E832-B272C06210B3}"/>
              </a:ext>
            </a:extLst>
          </p:cNvPr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CF6D8F-618E-A2ED-6FBD-4514375FB5D2}"/>
              </a:ext>
            </a:extLst>
          </p:cNvPr>
          <p:cNvSpPr/>
          <p:nvPr/>
        </p:nvSpPr>
        <p:spPr>
          <a:xfrm>
            <a:off x="6400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Definition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596F099-1CCF-32FB-8E26-CD0EAB1851D1}"/>
              </a:ext>
            </a:extLst>
          </p:cNvPr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 Dimension/Faktor ist ein Merkmal, auf dem Menschen unterschiedlich stark ausgeprägt sein können. Es gibt keine Entweder-oder-Kategorien, sondern Abstufungen.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F497A87-4439-887C-02B0-5C5F8485246C}"/>
              </a:ext>
            </a:extLst>
          </p:cNvPr>
          <p:cNvSpPr/>
          <p:nvPr/>
        </p:nvSpPr>
        <p:spPr>
          <a:xfrm>
            <a:off x="250371" y="365760"/>
            <a:ext cx="86976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bestimme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ich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Dimension /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Faktor?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8087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15901-6090-E9D6-9E3C-D33563C9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2C835E9-FAC7-0057-86C0-D4FEB3BD57F6}"/>
              </a:ext>
            </a:extLst>
          </p:cNvPr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 Kontinuum zwischen zwei Polen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4B15C6-6F70-A25C-4086-4B1EA4A90B83}"/>
              </a:ext>
            </a:extLst>
          </p:cNvPr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9DD9E8-E47E-CFF3-8AEE-354FC5784C81}"/>
              </a:ext>
            </a:extLst>
          </p:cNvPr>
          <p:cNvSpPr/>
          <p:nvPr/>
        </p:nvSpPr>
        <p:spPr>
          <a:xfrm>
            <a:off x="6400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Definition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110ACE-DC59-2B24-724B-9C8EFC6D1C24}"/>
              </a:ext>
            </a:extLst>
          </p:cNvPr>
          <p:cNvSpPr/>
          <p:nvPr/>
        </p:nvSpPr>
        <p:spPr>
          <a:xfrm>
            <a:off x="640080" y="1691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 Dimension/Faktor ist ein Merkmal, auf dem Menschen unterschiedlich stark ausgeprägt sein können. Es gibt keine Entweder-oder-Kategorien, sondern Abstufungen.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31C9BA-8320-176E-D83F-30E62E19D6D4}"/>
              </a:ext>
            </a:extLst>
          </p:cNvPr>
          <p:cNvSpPr/>
          <p:nvPr/>
        </p:nvSpPr>
        <p:spPr>
          <a:xfrm>
            <a:off x="731520" y="2560320"/>
            <a:ext cx="22860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8A0D2C-46EF-63DC-B008-0CBCCCDD5055}"/>
              </a:ext>
            </a:extLst>
          </p:cNvPr>
          <p:cNvSpPr/>
          <p:nvPr/>
        </p:nvSpPr>
        <p:spPr>
          <a:xfrm>
            <a:off x="7315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 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4A6913-B573-2FC7-0879-C00E331CA37D}"/>
              </a:ext>
            </a:extLst>
          </p:cNvPr>
          <p:cNvSpPr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Introvertiert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5AF94E-0AF9-0C2B-BC48-9030B971E18C}"/>
              </a:ext>
            </a:extLst>
          </p:cNvPr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4B7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←―――――→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31DCA9F-82E0-16C8-3B67-C2C5282251E2}"/>
              </a:ext>
            </a:extLst>
          </p:cNvPr>
          <p:cNvSpPr/>
          <p:nvPr/>
        </p:nvSpPr>
        <p:spPr>
          <a:xfrm>
            <a:off x="6126480" y="2560320"/>
            <a:ext cx="22860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B265B2-419C-999A-5F9D-918CCB54E6DA}"/>
              </a:ext>
            </a:extLst>
          </p:cNvPr>
          <p:cNvSpPr/>
          <p:nvPr/>
        </p:nvSpPr>
        <p:spPr>
          <a:xfrm>
            <a:off x="61264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 B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466229C-E7FA-A630-A9BF-C943D9B2301B}"/>
              </a:ext>
            </a:extLst>
          </p:cNvPr>
          <p:cNvSpPr/>
          <p:nvPr/>
        </p:nvSpPr>
        <p:spPr>
          <a:xfrm>
            <a:off x="61264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Extravertiert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0C33DF-51E7-66C8-BE1D-8BCA8B22E99C}"/>
              </a:ext>
            </a:extLst>
          </p:cNvPr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FFF3E0"/>
          </a:solidFill>
          <a:ln w="38100">
            <a:solidFill>
              <a:srgbClr val="8B451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ADA0164-3BF9-2A14-B8B9-414D80CC16FE}"/>
              </a:ext>
            </a:extLst>
          </p:cNvPr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 meisten Menschen liegen irgendwo in der Mitte, nicht an den Extremen!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543CEA9-C610-6E83-D9A9-32CBC65DB583}"/>
              </a:ext>
            </a:extLst>
          </p:cNvPr>
          <p:cNvSpPr/>
          <p:nvPr/>
        </p:nvSpPr>
        <p:spPr>
          <a:xfrm>
            <a:off x="250371" y="365760"/>
            <a:ext cx="86976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bestimme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ich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Dimension /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Faktor?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713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Abgrenzung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der Dimension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anderen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Merkmalen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291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Kontinuum mit Abstufungen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zwischen zwei Polen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Intro- ↔ Extraversion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Planend ↔ Spontan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Gewissenhaft ↔ Nachlässig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E9F4E9-3F72-F618-F8B4-C9D27E2F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2B55E3A3-195B-3CD8-20A2-EB373BFA96F3}"/>
              </a:ext>
            </a:extLst>
          </p:cNvPr>
          <p:cNvSpPr/>
          <p:nvPr/>
        </p:nvSpPr>
        <p:spPr>
          <a:xfrm>
            <a:off x="457200" y="1005840"/>
            <a:ext cx="2651760" cy="3291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E2F418D-4155-7B41-2217-58615627CA7C}"/>
              </a:ext>
            </a:extLst>
          </p:cNvPr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A34555-3463-AC15-7661-4338E103F00B}"/>
              </a:ext>
            </a:extLst>
          </p:cNvPr>
          <p:cNvSpPr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Kontinuum mit Abstufungen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zwischen zwei Polen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EACB91-EE7D-95EA-4FFA-A347D842B8CE}"/>
              </a:ext>
            </a:extLst>
          </p:cNvPr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Intro- ↔ Extraversion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12857B-729F-09A6-327C-52B0FD2D7AC1}"/>
              </a:ext>
            </a:extLst>
          </p:cNvPr>
          <p:cNvSpPr/>
          <p:nvPr/>
        </p:nvSpPr>
        <p:spPr>
          <a:xfrm>
            <a:off x="5486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Planend ↔ Spontan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B597AE-270F-4A30-574B-51157E5818BD}"/>
              </a:ext>
            </a:extLst>
          </p:cNvPr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Gewissenhaft ↔ Nachlässig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C620DB-C314-5A3F-9616-519F43192278}"/>
              </a:ext>
            </a:extLst>
          </p:cNvPr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831A5ED-F30A-93CE-FB50-43153FD9CECA}"/>
              </a:ext>
            </a:extLst>
          </p:cNvPr>
          <p:cNvSpPr/>
          <p:nvPr/>
        </p:nvSpPr>
        <p:spPr>
          <a:xfrm>
            <a:off x="3291840" y="1005840"/>
            <a:ext cx="2651760" cy="32918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5E84216-DBDE-3CEB-26A5-BE8A791F6393}"/>
              </a:ext>
            </a:extLst>
          </p:cNvPr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KATEGORIE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CA1C720B-27F3-C2EF-CA62-E3A0B2057C8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Abgrenzung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der Dimension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anderen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Merkmalen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109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02B5A-1F0E-8856-0C5B-B3504A5E7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38467A10-9EF2-DC36-AB99-AAB77992E934}"/>
              </a:ext>
            </a:extLst>
          </p:cNvPr>
          <p:cNvSpPr/>
          <p:nvPr/>
        </p:nvSpPr>
        <p:spPr>
          <a:xfrm>
            <a:off x="457200" y="1005840"/>
            <a:ext cx="2651760" cy="3291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9C7233-0389-C129-F7FB-A027103FDE5C}"/>
              </a:ext>
            </a:extLst>
          </p:cNvPr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72E7F7-091F-8CC0-BD5A-906CD54B05B6}"/>
              </a:ext>
            </a:extLst>
          </p:cNvPr>
          <p:cNvSpPr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Kontinuum mit Abstufungen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zwischen zwei Polen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37D596-168E-FF01-C03A-983AB2D1BDDF}"/>
              </a:ext>
            </a:extLst>
          </p:cNvPr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Intro- ↔ Extraversion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4DFB68-8A77-E9B2-C196-72A2B39C3228}"/>
              </a:ext>
            </a:extLst>
          </p:cNvPr>
          <p:cNvSpPr/>
          <p:nvPr/>
        </p:nvSpPr>
        <p:spPr>
          <a:xfrm>
            <a:off x="5486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Planend ↔ Spontan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AEF9E3-FFFC-0673-909B-B39495B355B3}"/>
              </a:ext>
            </a:extLst>
          </p:cNvPr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Gewissenhaft ↔ Nachlässig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EAB195-2A3A-DE9B-E889-B9063D50C8D4}"/>
              </a:ext>
            </a:extLst>
          </p:cNvPr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737C76D-7FBA-F8CA-43AE-E63CEB6F35D1}"/>
              </a:ext>
            </a:extLst>
          </p:cNvPr>
          <p:cNvSpPr/>
          <p:nvPr/>
        </p:nvSpPr>
        <p:spPr>
          <a:xfrm>
            <a:off x="3291840" y="1005840"/>
            <a:ext cx="2651760" cy="32918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8B158CD-85E0-F2AF-EAA2-FEEF821A3847}"/>
              </a:ext>
            </a:extLst>
          </p:cNvPr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KATEGORIE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6DF7C8-3FCB-99D5-1881-6AE7CEEA9BF8}"/>
              </a:ext>
            </a:extLst>
          </p:cNvPr>
          <p:cNvSpPr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Entweder-oder, keine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Abstufungen möglich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3DD45D-DD2E-7E40-3225-AF8EBF2A879F}"/>
              </a:ext>
            </a:extLst>
          </p:cNvPr>
          <p:cNvSpPr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Lerntyp: visuell oder auditiv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46C177-6B96-A462-624E-2F3C48F0B634}"/>
              </a:ext>
            </a:extLst>
          </p:cNvPr>
          <p:cNvSpPr/>
          <p:nvPr/>
        </p:nvSpPr>
        <p:spPr>
          <a:xfrm>
            <a:off x="33832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Morgen- oder Nachtlerner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E3FEB18-82C9-9C4C-47C1-73E40782CF39}"/>
              </a:ext>
            </a:extLst>
          </p:cNvPr>
          <p:cNvSpPr/>
          <p:nvPr/>
        </p:nvSpPr>
        <p:spPr>
          <a:xfrm>
            <a:off x="338328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Hogwarts-Haus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5CAFF0-64AE-F6B5-071D-0DF69012CF97}"/>
              </a:ext>
            </a:extLst>
          </p:cNvPr>
          <p:cNvSpPr/>
          <p:nvPr/>
        </p:nvSpPr>
        <p:spPr>
          <a:xfrm>
            <a:off x="32918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383CF34-8326-CE39-6164-37E6B67AC23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Abgrenzung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der Dimension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anderen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Merkmalen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0139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B87298-6A0F-9FA3-51D6-4890D2A6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11EF72A-2C0F-D88A-9DF7-5410C9D0A75D}"/>
              </a:ext>
            </a:extLst>
          </p:cNvPr>
          <p:cNvSpPr/>
          <p:nvPr/>
        </p:nvSpPr>
        <p:spPr>
          <a:xfrm>
            <a:off x="457200" y="1005840"/>
            <a:ext cx="2651760" cy="3291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82EE72D-2CB0-8309-0AD2-EAFB40A816D7}"/>
              </a:ext>
            </a:extLst>
          </p:cNvPr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0AE648-52D6-B5E5-C912-40953B957FC0}"/>
              </a:ext>
            </a:extLst>
          </p:cNvPr>
          <p:cNvSpPr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Kontinuum mit Abstufungen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zwischen zwei Polen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4820DC-E0BF-9DDB-16F8-A0761D00711D}"/>
              </a:ext>
            </a:extLst>
          </p:cNvPr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Intro- ↔ Extraversion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8FE6EE-9704-0E34-A925-975E82FFF949}"/>
              </a:ext>
            </a:extLst>
          </p:cNvPr>
          <p:cNvSpPr/>
          <p:nvPr/>
        </p:nvSpPr>
        <p:spPr>
          <a:xfrm>
            <a:off x="5486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Planend ↔ Spontan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E637C2-3DFC-239E-2888-FA22F0CD25B0}"/>
              </a:ext>
            </a:extLst>
          </p:cNvPr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Gewissenhaft ↔ Nachlässig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926FFA-9431-5560-C3F5-37BAFD62D161}"/>
              </a:ext>
            </a:extLst>
          </p:cNvPr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722579-58D1-0AF4-9439-CC31C8A8D0AF}"/>
              </a:ext>
            </a:extLst>
          </p:cNvPr>
          <p:cNvSpPr/>
          <p:nvPr/>
        </p:nvSpPr>
        <p:spPr>
          <a:xfrm>
            <a:off x="3291840" y="1005840"/>
            <a:ext cx="2651760" cy="32918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C1DF79-C3FB-3B1D-7BCF-E02A82BEC001}"/>
              </a:ext>
            </a:extLst>
          </p:cNvPr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KATEGORIE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543BDC-9016-7FB4-B6E5-4FF0D3DC3336}"/>
              </a:ext>
            </a:extLst>
          </p:cNvPr>
          <p:cNvSpPr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Entweder-oder, keine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Abstufungen möglich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9322338-84DD-EAF6-65BB-B5F3DC0C605B}"/>
              </a:ext>
            </a:extLst>
          </p:cNvPr>
          <p:cNvSpPr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Lerntyp: visuell oder auditiv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837B6D9-001C-960E-40CF-71F63A5BC3C5}"/>
              </a:ext>
            </a:extLst>
          </p:cNvPr>
          <p:cNvSpPr/>
          <p:nvPr/>
        </p:nvSpPr>
        <p:spPr>
          <a:xfrm>
            <a:off x="33832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Morgen- oder Nachtlerner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AA35EE-46C2-2B18-72F0-AAF9E0F64003}"/>
              </a:ext>
            </a:extLst>
          </p:cNvPr>
          <p:cNvSpPr/>
          <p:nvPr/>
        </p:nvSpPr>
        <p:spPr>
          <a:xfrm>
            <a:off x="338328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Hogwarts-Haus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FAE83F4-AAF4-AB20-4537-4FD1E8F258BA}"/>
              </a:ext>
            </a:extLst>
          </p:cNvPr>
          <p:cNvSpPr/>
          <p:nvPr/>
        </p:nvSpPr>
        <p:spPr>
          <a:xfrm>
            <a:off x="32918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4474747-DE2E-35E6-57BD-350A1CF8ABD4}"/>
              </a:ext>
            </a:extLst>
          </p:cNvPr>
          <p:cNvSpPr/>
          <p:nvPr/>
        </p:nvSpPr>
        <p:spPr>
          <a:xfrm>
            <a:off x="6126480" y="1005840"/>
            <a:ext cx="2651760" cy="32918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21E9036-B95D-4DFB-764E-BD468423DCC2}"/>
              </a:ext>
            </a:extLst>
          </p:cNvPr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PRÄFERENZ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2324183F-3B26-D28D-B425-D27C3536DB74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Abgrenzung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der Dimension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anderen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Merkmalen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004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7D939-C266-842F-EFD9-62FE9B755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7FC9D14-18DC-4BA3-D636-CA855B8F95A8}"/>
              </a:ext>
            </a:extLst>
          </p:cNvPr>
          <p:cNvSpPr/>
          <p:nvPr/>
        </p:nvSpPr>
        <p:spPr>
          <a:xfrm>
            <a:off x="457200" y="1005840"/>
            <a:ext cx="2651760" cy="3291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80919E-1A80-06DA-FDD0-80B2EE4E8B8C}"/>
              </a:ext>
            </a:extLst>
          </p:cNvPr>
          <p:cNvSpPr/>
          <p:nvPr/>
        </p:nvSpPr>
        <p:spPr>
          <a:xfrm>
            <a:off x="45720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5DFACD7-561A-E0B4-5578-9DFFF7C0AF6D}"/>
              </a:ext>
            </a:extLst>
          </p:cNvPr>
          <p:cNvSpPr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Kontinuum mit Abstufungen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zwischen zwei Polen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B0E286-205F-8CF9-628E-8A56DA2F30D9}"/>
              </a:ext>
            </a:extLst>
          </p:cNvPr>
          <p:cNvSpPr/>
          <p:nvPr/>
        </p:nvSpPr>
        <p:spPr>
          <a:xfrm>
            <a:off x="5486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Intro- ↔ Extraversion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D281AC-1957-9969-351B-23F0FEC9F214}"/>
              </a:ext>
            </a:extLst>
          </p:cNvPr>
          <p:cNvSpPr/>
          <p:nvPr/>
        </p:nvSpPr>
        <p:spPr>
          <a:xfrm>
            <a:off x="54864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Planend ↔ Spontan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AC0004-B622-073C-EC2C-68D5241101D9}"/>
              </a:ext>
            </a:extLst>
          </p:cNvPr>
          <p:cNvSpPr/>
          <p:nvPr/>
        </p:nvSpPr>
        <p:spPr>
          <a:xfrm>
            <a:off x="54864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Gewissenhaft ↔ Nachlässig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B53C0D5-AFB7-C429-FD8C-7C4666A9BE81}"/>
              </a:ext>
            </a:extLst>
          </p:cNvPr>
          <p:cNvSpPr/>
          <p:nvPr/>
        </p:nvSpPr>
        <p:spPr>
          <a:xfrm>
            <a:off x="4572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✓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EA5C4FE-23A2-376E-42E4-99DACFBD0392}"/>
              </a:ext>
            </a:extLst>
          </p:cNvPr>
          <p:cNvSpPr/>
          <p:nvPr/>
        </p:nvSpPr>
        <p:spPr>
          <a:xfrm>
            <a:off x="3291840" y="1005840"/>
            <a:ext cx="2651760" cy="329184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81B5D1-8393-6823-BBD3-061B0F686016}"/>
              </a:ext>
            </a:extLst>
          </p:cNvPr>
          <p:cNvSpPr/>
          <p:nvPr/>
        </p:nvSpPr>
        <p:spPr>
          <a:xfrm>
            <a:off x="329184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KATEGORIE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0009A1A-BBC9-71CD-35E3-D26124269724}"/>
              </a:ext>
            </a:extLst>
          </p:cNvPr>
          <p:cNvSpPr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Entweder-oder, keine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Abstufungen möglich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D9F2F6-CECE-FE43-526E-68561AD3F367}"/>
              </a:ext>
            </a:extLst>
          </p:cNvPr>
          <p:cNvSpPr/>
          <p:nvPr/>
        </p:nvSpPr>
        <p:spPr>
          <a:xfrm>
            <a:off x="338328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Lerntyp: visuell oder auditiv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BF741C6-046C-2DC4-7CC6-C7301FDAA7D7}"/>
              </a:ext>
            </a:extLst>
          </p:cNvPr>
          <p:cNvSpPr/>
          <p:nvPr/>
        </p:nvSpPr>
        <p:spPr>
          <a:xfrm>
            <a:off x="338328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Morgen- oder Nachtlerner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E731057-2CCA-09A0-1FE7-179D11638553}"/>
              </a:ext>
            </a:extLst>
          </p:cNvPr>
          <p:cNvSpPr/>
          <p:nvPr/>
        </p:nvSpPr>
        <p:spPr>
          <a:xfrm>
            <a:off x="338328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Hogwarts-Haus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4F9F2CE-C241-8D0F-59F5-37443734D1CB}"/>
              </a:ext>
            </a:extLst>
          </p:cNvPr>
          <p:cNvSpPr/>
          <p:nvPr/>
        </p:nvSpPr>
        <p:spPr>
          <a:xfrm>
            <a:off x="32918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18BF801-E53C-653D-84DC-2F1A7A17518D}"/>
              </a:ext>
            </a:extLst>
          </p:cNvPr>
          <p:cNvSpPr/>
          <p:nvPr/>
        </p:nvSpPr>
        <p:spPr>
          <a:xfrm>
            <a:off x="6126480" y="1005840"/>
            <a:ext cx="2651760" cy="32918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01A1409-2148-7263-0CA9-645B811172BF}"/>
              </a:ext>
            </a:extLst>
          </p:cNvPr>
          <p:cNvSpPr/>
          <p:nvPr/>
        </p:nvSpPr>
        <p:spPr>
          <a:xfrm>
            <a:off x="612648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PRÄFERENZ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2155505-1698-EE3B-7160-E981BB26C535}"/>
              </a:ext>
            </a:extLst>
          </p:cNvPr>
          <p:cNvSpPr/>
          <p:nvPr/>
        </p:nvSpPr>
        <p:spPr>
          <a:xfrm>
            <a:off x="621792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Vorliebe, keine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Persönlichkeitseigenschaft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8FBFFF2-9D38-6011-8C85-7ED5ADAF7108}"/>
              </a:ext>
            </a:extLst>
          </p:cNvPr>
          <p:cNvSpPr/>
          <p:nvPr/>
        </p:nvSpPr>
        <p:spPr>
          <a:xfrm>
            <a:off x="62179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Lieblingsfach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BF27573-DD55-8C81-C29F-D87777A0A1A2}"/>
              </a:ext>
            </a:extLst>
          </p:cNvPr>
          <p:cNvSpPr/>
          <p:nvPr/>
        </p:nvSpPr>
        <p:spPr>
          <a:xfrm>
            <a:off x="6217920" y="2514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Lieblingsfarbe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A58460D-8FAA-3A9B-5BB8-15F8C9C3967B}"/>
              </a:ext>
            </a:extLst>
          </p:cNvPr>
          <p:cNvSpPr/>
          <p:nvPr/>
        </p:nvSpPr>
        <p:spPr>
          <a:xfrm>
            <a:off x="6217920" y="2926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Welche Musik magst du?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1327D2-11FF-2564-50E3-65C683B62326}"/>
              </a:ext>
            </a:extLst>
          </p:cNvPr>
          <p:cNvSpPr/>
          <p:nvPr/>
        </p:nvSpPr>
        <p:spPr>
          <a:xfrm>
            <a:off x="612648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✗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FDE8AEDB-4A21-4264-1017-8D2365849C7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Abgrenzung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der Dimension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zu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anderen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Merkmalen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5774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0160A-FD2B-5299-AA1E-F615D4A4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56B99E-9354-0B00-DA19-4B73E3EFAC2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Lehrer-Persönlichkeitstest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5B09DD-5E2D-CD96-B568-100EAAE5F15F}"/>
              </a:ext>
            </a:extLst>
          </p:cNvPr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unterscheidet Lehrkräfte voneinander?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83ADA69-64EA-78B8-F693-31CB8A7483F5}"/>
              </a:ext>
            </a:extLst>
          </p:cNvPr>
          <p:cNvSpPr/>
          <p:nvPr/>
        </p:nvSpPr>
        <p:spPr>
          <a:xfrm>
            <a:off x="457200" y="1280160"/>
            <a:ext cx="8229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93E10D-743F-1B2C-29B0-D1844696B6F0}"/>
              </a:ext>
            </a:extLst>
          </p:cNvPr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Stellt euch vor, </a:t>
            </a:r>
            <a:r>
              <a:rPr lang="en-US" sz="1600" i="1" dirty="0">
                <a:solidFill>
                  <a:srgbClr val="5A5A5A"/>
                </a:solidFill>
                <a:latin typeface="Calibri" panose="020F0502020204030204"/>
              </a:rPr>
              <a:t>Prof. Vehabovic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möchte einen Test entwickeln, um zu verstehen, wie sich ihre Lehrkräfte in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ihrem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1600" b="1" i="1" dirty="0" err="1">
                <a:solidFill>
                  <a:srgbClr val="5A5A5A"/>
                </a:solidFill>
              </a:rPr>
              <a:t>Unterrichtsstil</a:t>
            </a:r>
            <a:r>
              <a:rPr lang="en-US" sz="1600" b="1" i="1" dirty="0">
                <a:solidFill>
                  <a:srgbClr val="5A5A5A"/>
                </a:solidFill>
              </a:rPr>
              <a:t>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unterscheiden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12662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FBAB7-2679-04EF-3749-A97FBABD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9759C6-B6B9-D972-1A98-DBC620243EF8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Lehrer-Persönlichkeitstest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C8E764-86CC-CAB6-9190-32C4B3E93416}"/>
              </a:ext>
            </a:extLst>
          </p:cNvPr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unterscheidet Lehrkräfte voneinander?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9F27CD-C1E4-55A3-461A-3FD59439EC0D}"/>
              </a:ext>
            </a:extLst>
          </p:cNvPr>
          <p:cNvSpPr/>
          <p:nvPr/>
        </p:nvSpPr>
        <p:spPr>
          <a:xfrm>
            <a:off x="457200" y="1280160"/>
            <a:ext cx="8229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4E0E84-9DDD-71EE-C549-0A691CADC15D}"/>
              </a:ext>
            </a:extLst>
          </p:cNvPr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Stellt euch vor, Prof. Vehabovic möchte einen Test entwickeln, um zu verstehen, wie sich ihre Lehrkräfte in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ihrem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Unterrichtsstil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unterscheiden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Ovale Legende 11">
            <a:extLst>
              <a:ext uri="{FF2B5EF4-FFF2-40B4-BE49-F238E27FC236}">
                <a16:creationId xmlns:a16="http://schemas.microsoft.com/office/drawing/2014/main" id="{9A62CC46-ED13-D73B-9646-7366676E5C39}"/>
              </a:ext>
            </a:extLst>
          </p:cNvPr>
          <p:cNvSpPr/>
          <p:nvPr/>
        </p:nvSpPr>
        <p:spPr>
          <a:xfrm>
            <a:off x="2767149" y="2391588"/>
            <a:ext cx="5736771" cy="2245724"/>
          </a:xfrm>
          <a:prstGeom prst="wedgeEllipseCallout">
            <a:avLst>
              <a:gd name="adj1" fmla="val -44742"/>
              <a:gd name="adj2" fmla="val -72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Konstrukt</a:t>
            </a:r>
          </a:p>
        </p:txBody>
      </p:sp>
    </p:spTree>
    <p:extLst>
      <p:ext uri="{BB962C8B-B14F-4D97-AF65-F5344CB8AC3E}">
        <p14:creationId xmlns:p14="http://schemas.microsoft.com/office/powerpoint/2010/main" val="25996251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Lehrer-Persönlichkeitstest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unterscheidet Lehrkräfte voneinander?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Stellt euch vor, </a:t>
            </a:r>
            <a:r>
              <a:rPr lang="en-US" sz="1600" i="1" dirty="0">
                <a:solidFill>
                  <a:srgbClr val="5A5A5A"/>
                </a:solidFill>
                <a:latin typeface="Calibri" panose="020F0502020204030204"/>
              </a:rPr>
              <a:t>Prof. Vehabovic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möchte einen Test entwickeln, um zu verstehen, wie sich ihre Lehrkräfte in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ihrem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1600" b="1" i="1" dirty="0" err="1">
                <a:solidFill>
                  <a:srgbClr val="5A5A5A"/>
                </a:solidFill>
              </a:rPr>
              <a:t>Unterrichtsstil</a:t>
            </a:r>
            <a:r>
              <a:rPr lang="en-US" sz="1600" b="1" i="1" dirty="0">
                <a:solidFill>
                  <a:srgbClr val="5A5A5A"/>
                </a:solidFill>
              </a:rPr>
              <a:t>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unterscheiden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31920" cy="2442754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Mögliche Dimensionen: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2194559"/>
            <a:ext cx="3931920" cy="2442753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E80E9-73D5-81D8-BDC4-0B29A0DA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28A01D-45DE-23D6-24D4-A39E771892BC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Beispiel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Lehrer-Persönlichkeitstest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2CF471-F4DA-223E-A80E-3128B654DB72}"/>
              </a:ext>
            </a:extLst>
          </p:cNvPr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unterscheidet Lehrkräfte voneinander?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7AB0CD-B154-AA7E-8CF3-63C31756ABAF}"/>
              </a:ext>
            </a:extLst>
          </p:cNvPr>
          <p:cNvSpPr/>
          <p:nvPr/>
        </p:nvSpPr>
        <p:spPr>
          <a:xfrm>
            <a:off x="457200" y="1280160"/>
            <a:ext cx="822960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FEF8CC-E487-58B0-599B-F31EAADB22B6}"/>
              </a:ext>
            </a:extLst>
          </p:cNvPr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Stellt euch vor, </a:t>
            </a:r>
            <a:r>
              <a:rPr lang="en-US" sz="1600" i="1" dirty="0">
                <a:solidFill>
                  <a:srgbClr val="5A5A5A"/>
                </a:solidFill>
                <a:latin typeface="Calibri" panose="020F0502020204030204"/>
              </a:rPr>
              <a:t>Prof. Vehabovic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möchte einen Test entwickeln, um zu verstehen, wie sich ihre Lehrkräfte in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ihrem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1600" b="1" i="1" dirty="0" err="1">
                <a:solidFill>
                  <a:srgbClr val="5A5A5A"/>
                </a:solidFill>
              </a:rPr>
              <a:t>Unterrichtsstil</a:t>
            </a:r>
            <a:r>
              <a:rPr lang="en-US" sz="1600" b="1" i="1" dirty="0">
                <a:solidFill>
                  <a:srgbClr val="5A5A5A"/>
                </a:solidFill>
              </a:rPr>
              <a:t> </a:t>
            </a:r>
            <a:r>
              <a:rPr kumimoji="0" 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unterscheiden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FC7C173-8B3B-BE25-2975-E0CE7B506A04}"/>
              </a:ext>
            </a:extLst>
          </p:cNvPr>
          <p:cNvSpPr/>
          <p:nvPr/>
        </p:nvSpPr>
        <p:spPr>
          <a:xfrm>
            <a:off x="457200" y="2194560"/>
            <a:ext cx="3931920" cy="2442754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5B99B2-F805-D75E-11AB-455F49FD3F40}"/>
              </a:ext>
            </a:extLst>
          </p:cNvPr>
          <p:cNvSpPr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Mögliche Dimensionen: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1F3668-5C9E-E06C-2EBC-FC2495FDDFAC}"/>
              </a:ext>
            </a:extLst>
          </p:cNvPr>
          <p:cNvSpPr/>
          <p:nvPr/>
        </p:nvSpPr>
        <p:spPr>
          <a:xfrm>
            <a:off x="640080" y="272415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Strukturiertheit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Schülernähe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Innovationsfreude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40494B-0257-B8B7-57A4-C04F86F4EC6E}"/>
              </a:ext>
            </a:extLst>
          </p:cNvPr>
          <p:cNvSpPr/>
          <p:nvPr/>
        </p:nvSpPr>
        <p:spPr>
          <a:xfrm>
            <a:off x="4754880" y="2194559"/>
            <a:ext cx="3931920" cy="2442753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8CADD6-66F1-7B82-89B1-E3C9999B08F5}"/>
              </a:ext>
            </a:extLst>
          </p:cNvPr>
          <p:cNvSpPr/>
          <p:nvPr/>
        </p:nvSpPr>
        <p:spPr>
          <a:xfrm>
            <a:off x="49377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NICHT funktioniert: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476FE0-7F92-ADC7-253D-100D0A3F3FD3}"/>
              </a:ext>
            </a:extLst>
          </p:cNvPr>
          <p:cNvSpPr/>
          <p:nvPr/>
        </p:nvSpPr>
        <p:spPr>
          <a:xfrm>
            <a:off x="4937760" y="2921726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Lieblingsfach (Präferenz)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Klassenvorstand ja/nein (Kategorie)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Dienstjahre (demographisch)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9858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Dimension: Strukturiertheit im Unterricht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926080" cy="6400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 A: Flexibel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Passt Unterricht spontan 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4B7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←―――→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760720" y="868680"/>
            <a:ext cx="2926080" cy="6400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85216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 B: Strukturiert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5216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Klarer Ablauf, feste Regeln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Items für diese Dimension: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2103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beginne jede Stunde mit dem gleichen Ritual."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23591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Hohe Zustimmung = hohe Strukturiertheit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2697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"Meine Stunden folgen einem klaren Ablaufplan."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29535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Hohe Zustimmung = hohe Strukturiertheit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7280" y="3291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entscheide spontan, was wir heute machen."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7280" y="3547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Hohe Zustimmung = niedrige Strukturiertheit (umgekehrt!)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Was bedeutet +/− Polung?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12915"/>
            <a:ext cx="4114800" cy="169164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Item (positiv gepolt)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169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Hohe Zustimmung = hoher Wert auf der Dimension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3439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plane meinen Unterricht detailliert."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717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 voll zu (5) → Strukturiertheit = 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008810"/>
            <a:ext cx="4114800" cy="1814649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100251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 Item (negativ gepolt)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62820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Hohe Zustimmung = niedriger Wert auf der Dimension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408867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improvisiere gerne im Unterricht."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40871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 voll zu (5) → Strukturiertheit = 1 (umgerechnet!)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868679"/>
            <a:ext cx="3931920" cy="390905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A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Warum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brauchen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man beides?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1550940"/>
            <a:ext cx="3657600" cy="4947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“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Aquieszenz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 (Ja-Sage-Tendenz) erkennen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60" y="211019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Manche Leute stimmen allem zu. Mit +/- Items fällt das auf.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7760" y="270455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Aufmerksamkeit prüfen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7760" y="2933155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Wer nicht aufpasst, antwortet widersprüchlich.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7760" y="357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Reliabilität erhöhen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7760" y="379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Verschiedene Formulierungen, gleiches Konstrukt.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99E14-68A7-2E76-31BA-53863B48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3DA3D6-371B-9CBC-D3CA-DF81CA1DEC59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Dimension: Strukturiertheit im Unterricht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B98705A-B624-9F58-161D-DD0E780AE0B5}"/>
              </a:ext>
            </a:extLst>
          </p:cNvPr>
          <p:cNvSpPr/>
          <p:nvPr/>
        </p:nvSpPr>
        <p:spPr>
          <a:xfrm>
            <a:off x="457200" y="868680"/>
            <a:ext cx="2926080" cy="6400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CADAA4-CDD8-5F49-3248-7A3227D0BBD4}"/>
              </a:ext>
            </a:extLst>
          </p:cNvPr>
          <p:cNvSpPr/>
          <p:nvPr/>
        </p:nvSpPr>
        <p:spPr>
          <a:xfrm>
            <a:off x="54864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 A: Flexibel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DEDB6B1-704E-46B7-3063-24B620AAD47D}"/>
              </a:ext>
            </a:extLst>
          </p:cNvPr>
          <p:cNvSpPr/>
          <p:nvPr/>
        </p:nvSpPr>
        <p:spPr>
          <a:xfrm>
            <a:off x="54864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Passt Unterricht spontan 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9F56B34-622C-BAE0-F5A7-C34DDD07D0C6}"/>
              </a:ext>
            </a:extLst>
          </p:cNvPr>
          <p:cNvSpPr/>
          <p:nvPr/>
        </p:nvSpPr>
        <p:spPr>
          <a:xfrm>
            <a:off x="3474720" y="1005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4B7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←―――→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3D17C1-729F-1526-F884-1FBD8A123A91}"/>
              </a:ext>
            </a:extLst>
          </p:cNvPr>
          <p:cNvSpPr/>
          <p:nvPr/>
        </p:nvSpPr>
        <p:spPr>
          <a:xfrm>
            <a:off x="5760720" y="868680"/>
            <a:ext cx="2926080" cy="6400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64C3700-F077-0893-78C4-7A402F65C88A}"/>
              </a:ext>
            </a:extLst>
          </p:cNvPr>
          <p:cNvSpPr/>
          <p:nvPr/>
        </p:nvSpPr>
        <p:spPr>
          <a:xfrm>
            <a:off x="585216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 B: Strukturiert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F27AEF7-8662-87C1-953F-AD9A389FBDB3}"/>
              </a:ext>
            </a:extLst>
          </p:cNvPr>
          <p:cNvSpPr/>
          <p:nvPr/>
        </p:nvSpPr>
        <p:spPr>
          <a:xfrm>
            <a:off x="585216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Klarer Ablauf, feste Regeln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D7A6B7C-A519-5D63-3213-874A92F4A998}"/>
              </a:ext>
            </a:extLst>
          </p:cNvPr>
          <p:cNvSpPr/>
          <p:nvPr/>
        </p:nvSpPr>
        <p:spPr>
          <a:xfrm>
            <a:off x="457200" y="1645920"/>
            <a:ext cx="8229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2EF918B-DB45-42B0-DD6C-BE8453B6CEA2}"/>
              </a:ext>
            </a:extLst>
          </p:cNvPr>
          <p:cNvSpPr/>
          <p:nvPr/>
        </p:nvSpPr>
        <p:spPr>
          <a:xfrm>
            <a:off x="64008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Items für diese Dimension: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CE1CFE-4F69-1997-1D7E-F125EDBE6E74}"/>
              </a:ext>
            </a:extLst>
          </p:cNvPr>
          <p:cNvSpPr/>
          <p:nvPr/>
        </p:nvSpPr>
        <p:spPr>
          <a:xfrm>
            <a:off x="640080" y="2103120"/>
            <a:ext cx="320040" cy="32004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765D99-25E9-AFF5-3F14-BD6D2093634B}"/>
              </a:ext>
            </a:extLst>
          </p:cNvPr>
          <p:cNvSpPr/>
          <p:nvPr/>
        </p:nvSpPr>
        <p:spPr>
          <a:xfrm>
            <a:off x="64008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E85026F-4B1A-CFCE-E74F-6BAA5D27DFFF}"/>
              </a:ext>
            </a:extLst>
          </p:cNvPr>
          <p:cNvSpPr/>
          <p:nvPr/>
        </p:nvSpPr>
        <p:spPr>
          <a:xfrm>
            <a:off x="1097280" y="21031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beginne jede Stunde mit dem gleichen Ritual."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661D60-3447-2D15-5358-5035702FE6D5}"/>
              </a:ext>
            </a:extLst>
          </p:cNvPr>
          <p:cNvSpPr/>
          <p:nvPr/>
        </p:nvSpPr>
        <p:spPr>
          <a:xfrm>
            <a:off x="1097280" y="23591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Hohe Zustimmung = hohe Strukturiertheit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126D074-E29C-3E4F-BA1A-0DAACDB698A7}"/>
              </a:ext>
            </a:extLst>
          </p:cNvPr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7F23470-C169-6501-4039-09F4D66BBC2C}"/>
              </a:ext>
            </a:extLst>
          </p:cNvPr>
          <p:cNvSpPr/>
          <p:nvPr/>
        </p:nvSpPr>
        <p:spPr>
          <a:xfrm>
            <a:off x="6400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ED15148-0992-9BEE-962B-16F0CE61F07B}"/>
              </a:ext>
            </a:extLst>
          </p:cNvPr>
          <p:cNvSpPr/>
          <p:nvPr/>
        </p:nvSpPr>
        <p:spPr>
          <a:xfrm>
            <a:off x="1097280" y="2697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"Meine Stunden folgen einem klaren Ablaufplan."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808FAE2-5736-A911-C363-7FAD7A4E36F9}"/>
              </a:ext>
            </a:extLst>
          </p:cNvPr>
          <p:cNvSpPr/>
          <p:nvPr/>
        </p:nvSpPr>
        <p:spPr>
          <a:xfrm>
            <a:off x="1097280" y="295351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Hohe Zustimmung = hohe Strukturiertheit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B8D8E83-3859-D55B-B19A-EC7A5273CBC0}"/>
              </a:ext>
            </a:extLst>
          </p:cNvPr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F9326B3-162F-EDA9-1E47-B86D2F9D717F}"/>
              </a:ext>
            </a:extLst>
          </p:cNvPr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4C00676-D968-9122-367C-C179F2AC9C85}"/>
              </a:ext>
            </a:extLst>
          </p:cNvPr>
          <p:cNvSpPr/>
          <p:nvPr/>
        </p:nvSpPr>
        <p:spPr>
          <a:xfrm>
            <a:off x="1097280" y="3291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entscheide spontan, was wir heute machen."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AE72F9A-9C19-7CDE-041F-48FEFE48009A}"/>
              </a:ext>
            </a:extLst>
          </p:cNvPr>
          <p:cNvSpPr/>
          <p:nvPr/>
        </p:nvSpPr>
        <p:spPr>
          <a:xfrm>
            <a:off x="1097280" y="35478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→ Hohe Zustimmung = niedrige Strukturiertheit (umgekehrt!)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23D85FC-2883-D7E4-51C7-2FE943A8DA1B}"/>
              </a:ext>
            </a:extLst>
          </p:cNvPr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FFF3E0"/>
          </a:solidFill>
          <a:ln w="38100">
            <a:solidFill>
              <a:srgbClr val="8B451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B1A1CE2-3EE8-690B-2C67-B603112CE8EF}"/>
              </a:ext>
            </a:extLst>
          </p:cNvPr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Alle Items messen dieselbe Dimension, aber aus verschiedenen Richtungen!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37959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Antwortformat: Likert-Skala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beginne jede Stunde mit dem gleichen Ritual."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 gar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nicht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1645920"/>
            <a:ext cx="411480" cy="41148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 eher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nicht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023360" y="1645920"/>
            <a:ext cx="411480" cy="41148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0233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Teils-teils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577840" y="1645920"/>
            <a:ext cx="411480" cy="4114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778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eher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0" y="1645920"/>
            <a:ext cx="411480" cy="411480"/>
          </a:xfrm>
          <a:prstGeom prst="ellipse">
            <a:avLst/>
          </a:prstGeom>
          <a:solidFill>
            <a:srgbClr val="2D5A2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voll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EE44B9-8A9D-BFFC-2B7C-9A4F2161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24861D1-0E71-E5C5-5305-F3D7625755C6}"/>
              </a:ext>
            </a:extLst>
          </p:cNvPr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Antwortformat: Likert-Skala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72790B3-F754-F7A2-B6D6-245C7DA8ACBB}"/>
              </a:ext>
            </a:extLst>
          </p:cNvPr>
          <p:cNvSpPr/>
          <p:nvPr/>
        </p:nvSpPr>
        <p:spPr>
          <a:xfrm>
            <a:off x="457200" y="1188720"/>
            <a:ext cx="8229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7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5DA79A-8B0D-AFA4-1AA5-0D6CCA589610}"/>
              </a:ext>
            </a:extLst>
          </p:cNvPr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"Ich beginne jede Stunde mit dem gleichen Ritual."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E5873B-3968-4940-77F9-ADA05A855879}"/>
              </a:ext>
            </a:extLst>
          </p:cNvPr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F0BF1F-F542-E2E9-150B-20C22A005AE0}"/>
              </a:ext>
            </a:extLst>
          </p:cNvPr>
          <p:cNvSpPr/>
          <p:nvPr/>
        </p:nvSpPr>
        <p:spPr>
          <a:xfrm>
            <a:off x="9144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6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789DBC6-67D4-E076-3538-065837C6B482}"/>
              </a:ext>
            </a:extLst>
          </p:cNvPr>
          <p:cNvSpPr/>
          <p:nvPr/>
        </p:nvSpPr>
        <p:spPr>
          <a:xfrm>
            <a:off x="54864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 gar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nicht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6EB415B-3B72-144A-2F5C-3D7A957633F5}"/>
              </a:ext>
            </a:extLst>
          </p:cNvPr>
          <p:cNvSpPr/>
          <p:nvPr/>
        </p:nvSpPr>
        <p:spPr>
          <a:xfrm>
            <a:off x="2468880" y="1645920"/>
            <a:ext cx="411480" cy="41148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FE27FD-8E56-7CF1-4E32-23D1ABFE4E23}"/>
              </a:ext>
            </a:extLst>
          </p:cNvPr>
          <p:cNvSpPr/>
          <p:nvPr/>
        </p:nvSpPr>
        <p:spPr>
          <a:xfrm>
            <a:off x="24688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4E81309-BF37-831E-BA1D-2A5D80C76BE0}"/>
              </a:ext>
            </a:extLst>
          </p:cNvPr>
          <p:cNvSpPr/>
          <p:nvPr/>
        </p:nvSpPr>
        <p:spPr>
          <a:xfrm>
            <a:off x="210312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 eher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nicht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7D36235-529C-CAC2-95D6-57C161C91C6F}"/>
              </a:ext>
            </a:extLst>
          </p:cNvPr>
          <p:cNvSpPr/>
          <p:nvPr/>
        </p:nvSpPr>
        <p:spPr>
          <a:xfrm>
            <a:off x="4023360" y="1645920"/>
            <a:ext cx="411480" cy="41148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A0050E-91AE-CA07-7C6A-4035741D6274}"/>
              </a:ext>
            </a:extLst>
          </p:cNvPr>
          <p:cNvSpPr/>
          <p:nvPr/>
        </p:nvSpPr>
        <p:spPr>
          <a:xfrm>
            <a:off x="40233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C92E52-6750-0EA7-F118-3E9A9BC8379E}"/>
              </a:ext>
            </a:extLst>
          </p:cNvPr>
          <p:cNvSpPr/>
          <p:nvPr/>
        </p:nvSpPr>
        <p:spPr>
          <a:xfrm>
            <a:off x="365760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Teils-teils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835E863-B0AA-9236-092C-8042FDB3087B}"/>
              </a:ext>
            </a:extLst>
          </p:cNvPr>
          <p:cNvSpPr/>
          <p:nvPr/>
        </p:nvSpPr>
        <p:spPr>
          <a:xfrm>
            <a:off x="5577840" y="1645920"/>
            <a:ext cx="411480" cy="4114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D8C24C-8A29-8839-2B29-8D65E3555834}"/>
              </a:ext>
            </a:extLst>
          </p:cNvPr>
          <p:cNvSpPr/>
          <p:nvPr/>
        </p:nvSpPr>
        <p:spPr>
          <a:xfrm>
            <a:off x="55778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88E3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E6026D9-DD6A-28B1-7B71-C19D8EE87093}"/>
              </a:ext>
            </a:extLst>
          </p:cNvPr>
          <p:cNvSpPr/>
          <p:nvPr/>
        </p:nvSpPr>
        <p:spPr>
          <a:xfrm>
            <a:off x="521208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eher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67B6E24-E451-8DD2-5611-045D3650D489}"/>
              </a:ext>
            </a:extLst>
          </p:cNvPr>
          <p:cNvSpPr/>
          <p:nvPr/>
        </p:nvSpPr>
        <p:spPr>
          <a:xfrm>
            <a:off x="7132320" y="1645920"/>
            <a:ext cx="411480" cy="411480"/>
          </a:xfrm>
          <a:prstGeom prst="ellipse">
            <a:avLst/>
          </a:prstGeom>
          <a:solidFill>
            <a:srgbClr val="2D5A2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E21B5E4-A3DC-807F-D445-0BDAD8CA04B5}"/>
              </a:ext>
            </a:extLst>
          </p:cNvPr>
          <p:cNvSpPr/>
          <p:nvPr/>
        </p:nvSpPr>
        <p:spPr>
          <a:xfrm>
            <a:off x="713232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F6426ED-A876-D3DE-C73D-DA03228F6A79}"/>
              </a:ext>
            </a:extLst>
          </p:cNvPr>
          <p:cNvSpPr/>
          <p:nvPr/>
        </p:nvSpPr>
        <p:spPr>
          <a:xfrm>
            <a:off x="676656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Stimme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5A5A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voll zu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8FF503-6AE6-C451-5606-BB9ACA64412B}"/>
              </a:ext>
            </a:extLst>
          </p:cNvPr>
          <p:cNvSpPr/>
          <p:nvPr/>
        </p:nvSpPr>
        <p:spPr>
          <a:xfrm>
            <a:off x="457200" y="3223259"/>
            <a:ext cx="4023360" cy="989511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37FD505-E6C3-3AC2-B665-FE67E0BF30F5}"/>
              </a:ext>
            </a:extLst>
          </p:cNvPr>
          <p:cNvSpPr/>
          <p:nvPr/>
        </p:nvSpPr>
        <p:spPr>
          <a:xfrm>
            <a:off x="640080" y="33147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Warum 5 Stufen?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417342-3D36-278E-6C59-D847AB4FFC34}"/>
              </a:ext>
            </a:extLst>
          </p:cNvPr>
          <p:cNvSpPr/>
          <p:nvPr/>
        </p:nvSpPr>
        <p:spPr>
          <a:xfrm>
            <a:off x="640080" y="369896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Nicht zu wenig (zu grob), nicht zu viele (überfordernd). 5 ist der Standard. 7 die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zweithäufigste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1201E50-8AF5-D8B8-111C-26E193869D71}"/>
              </a:ext>
            </a:extLst>
          </p:cNvPr>
          <p:cNvSpPr/>
          <p:nvPr/>
        </p:nvSpPr>
        <p:spPr>
          <a:xfrm>
            <a:off x="4663440" y="3223260"/>
            <a:ext cx="4023360" cy="82296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72B69A4-ADB5-18A9-3842-18D5D026410F}"/>
              </a:ext>
            </a:extLst>
          </p:cNvPr>
          <p:cNvSpPr/>
          <p:nvPr/>
        </p:nvSpPr>
        <p:spPr>
          <a:xfrm>
            <a:off x="4846320" y="33147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976D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Warum keine Mitte weglassen?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F9B5E27-3692-4FC9-1A1B-C151A81AC2FF}"/>
              </a:ext>
            </a:extLst>
          </p:cNvPr>
          <p:cNvSpPr/>
          <p:nvPr/>
        </p:nvSpPr>
        <p:spPr>
          <a:xfrm>
            <a:off x="4846320" y="35890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Manche Menschen sind wirklich neutral. Das zu erzwingen verzerrt die Daten.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000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5A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Jetzt seid ihr dran!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D5A2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Euer Auftrag: Schul-Persönlichkeitstest entwickeln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Einigt euch auf ein Konstrukt (Was wollt ihr messen?)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411480" cy="41148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3042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Findet 3-5 Dimensionen, die Schüler:innen unterscheiden (Kontinuen!)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2825496"/>
            <a:ext cx="411480" cy="41148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8529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Schreibt pro Dimension 2-3 konkrete Items (+ und − gemischt)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31520" y="3392424"/>
            <a:ext cx="411480" cy="41148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41985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80160" y="34381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Prüft mit der Checkliste, ob eure Dimensionen und Items gut sind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" y="3959352"/>
            <a:ext cx="411480" cy="411480"/>
          </a:xfrm>
          <a:prstGeom prst="ellipse">
            <a:avLst/>
          </a:prstGeom>
          <a:solidFill>
            <a:srgbClr val="2D5A2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9867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Gebt eurem Test einen Namen!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2317D2B3-F46E-76E3-5CB4-D3759E43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677" y="482600"/>
            <a:ext cx="6658644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335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</a:t>
            </a:r>
            <a:r>
              <a:rPr lang="en-US" sz="3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formuliert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 Items?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73152" cy="13716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Ich-Aussagen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bin jemand, der...'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sehe mich als...'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neige dazu...'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73152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Direkte Aussagen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'Vor Prüfungen schlafe ich schlecht.'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rede gerne vor der Klasse.'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'Hausaufgaben mache ich sofort.'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73152" cy="13716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Häufigkeitsaussagen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lerne oft mit anderen zusammen.'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'Manchmal vergesse ich Deadlines.'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frage selten um Hilfe.'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73152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Konkrete Verhaltensweisen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880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beginne mit Lernen mindestens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 Tage vor einer Prüfung.'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'Ich melde mich im Unterricht.'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8595360" cy="59436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Formuliert</a:t>
            </a:r>
            <a:r>
              <a:rPr lang="en-US" sz="1600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eure Items so konkret und beobachtbar wie möglich!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Antwortskala passt?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73152" cy="18288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Zustimmungsskala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trifft gar nicht zu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= trifft eher nicht zu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= teils/teils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= trifft eher zu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= trifft völlig zu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 zu: Aussagen über Eigenschaften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73152" cy="1828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Häufigkeitsskala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nie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= selten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= manchmal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= oft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= immer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 zu: Fragen nach Verhalten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73152" cy="15544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Intensitätsskala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gar nicht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= ein wenig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= mittelmäßig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= ziemlich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= sehr</a:t>
            </a:r>
            <a:endParaRPr 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-Check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914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eine andere Klasse euren Test macht – wissen die genau, was sie tun sollen? Oder müsstet ihr es ihnen erst erklären?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914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Könnte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anders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euren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genauso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auswerten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müsstet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erklären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 die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Punkte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berechnet</a:t>
            </a: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914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 hat 17 Punkte auf eurer Skala. Ist das viel? Wenig? Woher wisst ihr das?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D4E6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welches Gütekriterium geht es hier?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Objektivität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3152" cy="9144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Durchführungsobjektivität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wird immer unter denselben Bedingungen durchgeführt – egal wer ihn leitet. Dafür braucht man eine standardisierte Instruktion.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73152" cy="9144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Auswertungsobjektivität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Punkteberechnung ist eindeutig festgelegt. Jeder, der auswertet, kommt auf dasselbe Ergebnis. Dafür braucht man eine Auswertungsvorschrift.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73152" cy="9144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Interpretationsobjektivität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interpretiert denselben Score gleich. Dafür braucht man Normwerte oder klare Cut-off-Werte (z.B. ab 20 = hoch).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D4E6F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71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Objektivität = Unabhängigkeit vom Untersucher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-Check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914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dieselbe Person euren Test in zwei Wochen nochmal ausfüllt – kommt dann ungefähr dasselbe raus?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914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 eure Items wirklich alle dasselbe – oder fragt ihr vielleicht bei manchen etwas ganz anderes ab?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9144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 man mit nur 2-3 Fragen jemanden wirklich zuverlässig einschätzen? Oder ist das eher Zufall?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welches Gütekriterium geht es hier?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E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Reliabilität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Test-Retest-Reliabilität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Wiederholung des Tests kommen ähnliche Ergebnisse raus. Prüfung: Dieselben Personen füllen den Test zweimal aus, dann Korrelation berechnen.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 Konsistenz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Items einer Skala messen dasselbe Konstrukt und hängen zusammen. Prüfung: Split-Half (Test halbieren) oder Cronbachs Alpha berechnen.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73152" cy="9144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Itemanzahl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 Items = zuverlässigere Messung. Echte Tests haben meist 8-12 Items pro Dimension. Mit 2-3 Items ist die Messung oft zu ungenau.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E8DAE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Reliabilität = Zuverlässigkeit der Messung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Gütekriterien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-Check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3152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eure Items liest – checkt er sofort, worum es geht?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73152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Dimension hat wahrscheinlich mehrere Facetten – habt ihr an alle gedacht?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73152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bei euch hoch scored – verhält sich der im echten Leben auch wirklich so?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8412480" cy="73152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welcher Big-Five-Dimension sollte eure Skala zusammenhängen – und tut sie das?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welches Gütekriterium geht es hier?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8F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Validität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Augenscheinvalidität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2618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sieht so aus, als würde er messen, was er soll. Man erkennt sofort das Thema. </a:t>
            </a:r>
            <a:r>
              <a:rPr lang="de-AT" sz="1400" dirty="0"/>
              <a:t>Prüfung: Laien- oder Expertenurteil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Inhaltsvalidität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130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Items decken alle wichtigen Aspekte des Konstrukts ab – keine Facette fehlt.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Kriteriumsvalidität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sagt reales Verhalten vorher. Wer hoch scored, zeigt das auch im echten Leben.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73152" cy="7772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Konstruktvalidität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Test korreliert mit verwandten Konstrukten (konvergent) und nicht mit fremden (diskriminant).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solidFill>
            <a:srgbClr val="D5F5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Validität = Misst der Test, was er messen soll?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3783</Words>
  <Application>Microsoft Macintosh PowerPoint</Application>
  <PresentationFormat>Bildschirmpräsentation (16:9)</PresentationFormat>
  <Paragraphs>827</Paragraphs>
  <Slides>64</Slides>
  <Notes>63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64</vt:i4>
      </vt:variant>
    </vt:vector>
  </HeadingPairs>
  <TitlesOfParts>
    <vt:vector size="68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Persoenlichkeitstheorien - Themenblock 5</dc:title>
  <dc:subject>PptxGenJS Presentation</dc:subject>
  <dc:creator>WPF PuP</dc:creator>
  <cp:lastModifiedBy>Orhan Vehabovic</cp:lastModifiedBy>
  <cp:revision>74</cp:revision>
  <dcterms:created xsi:type="dcterms:W3CDTF">2026-01-17T08:23:22Z</dcterms:created>
  <dcterms:modified xsi:type="dcterms:W3CDTF">2026-01-26T14:09:04Z</dcterms:modified>
</cp:coreProperties>
</file>