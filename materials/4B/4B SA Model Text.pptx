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2" r:id="rId3"/>
    <p:sldId id="273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0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06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022" y="1025949"/>
            <a:ext cx="6649956" cy="101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How to get full points on your text</a:t>
            </a:r>
            <a:endParaRPr lang="en-US" sz="4800" dirty="0">
              <a:latin typeface="ADLaM Display" panose="02010000000000000000" pitchFamily="2" charset="77"/>
              <a:ea typeface="ADLaM Display" panose="02010000000000000000" pitchFamily="2" charset="77"/>
              <a:cs typeface="ADLaM Display" panose="02010000000000000000" pitchFamily="2" charset="77"/>
            </a:endParaRPr>
          </a:p>
        </p:txBody>
      </p:sp>
      <p:pic>
        <p:nvPicPr>
          <p:cNvPr id="3" name="Image 0" descr="/tmp/rasterized-gradient-779431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2636490"/>
            <a:ext cx="11430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4856" y="2865090"/>
            <a:ext cx="1454289" cy="519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SA Writing Task</a:t>
            </a:r>
            <a:b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Example Texts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Clipart, Essen enthält.&#10;&#10;KI-generierte Inhalte können fehlerhaft sein.">
            <a:extLst>
              <a:ext uri="{FF2B5EF4-FFF2-40B4-BE49-F238E27FC236}">
                <a16:creationId xmlns:a16="http://schemas.microsoft.com/office/drawing/2014/main" id="{6EA06BB5-14D0-0545-7519-DB503A6BE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3" y="482600"/>
            <a:ext cx="6821713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5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C59F4D6-6983-4A47-3E2E-7ED43A2BA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204" y="421877"/>
            <a:ext cx="6558209" cy="4443185"/>
          </a:xfrm>
          <a:prstGeom prst="rect">
            <a:avLst/>
          </a:prstGeom>
          <a:ln>
            <a:noFill/>
          </a:ln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0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9" y="228599"/>
            <a:ext cx="7852955" cy="112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categories we analyze for each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28600" y="1919288"/>
            <a:ext cx="3987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ACHIEVEMENT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228600" y="23098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2309813"/>
            <a:ext cx="0" cy="45720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1000" y="24241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899" y="2445097"/>
            <a:ext cx="3073037" cy="19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job fits</a:t>
            </a:r>
            <a:endParaRPr lang="en-US" sz="1050" b="1" dirty="0"/>
          </a:p>
        </p:txBody>
      </p:sp>
      <p:sp>
        <p:nvSpPr>
          <p:cNvPr id="8" name="Text 6"/>
          <p:cNvSpPr/>
          <p:nvPr/>
        </p:nvSpPr>
        <p:spPr>
          <a:xfrm>
            <a:off x="228600" y="28813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3498DB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881313"/>
            <a:ext cx="0" cy="45720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81000" y="29956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3899" y="3016597"/>
            <a:ext cx="3351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you cook or eat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job involves</a:t>
            </a:r>
            <a:endParaRPr lang="en-US" sz="1050" b="1" dirty="0"/>
          </a:p>
        </p:txBody>
      </p:sp>
      <p:sp>
        <p:nvSpPr>
          <p:cNvPr id="12" name="Text 10"/>
          <p:cNvSpPr/>
          <p:nvPr/>
        </p:nvSpPr>
        <p:spPr>
          <a:xfrm>
            <a:off x="228600" y="3452813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9B59B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3452813"/>
            <a:ext cx="0" cy="45720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81000" y="3567113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899" y="3588097"/>
            <a:ext cx="3073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details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Pros and cons of the job</a:t>
            </a:r>
            <a:endParaRPr lang="en-US" sz="1050" b="1" dirty="0"/>
          </a:p>
        </p:txBody>
      </p:sp>
      <p:sp>
        <p:nvSpPr>
          <p:cNvPr id="16" name="Text 14"/>
          <p:cNvSpPr/>
          <p:nvPr/>
        </p:nvSpPr>
        <p:spPr>
          <a:xfrm>
            <a:off x="4442371" y="1678484"/>
            <a:ext cx="3987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FACTORS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42371" y="2069009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E67E22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61421" y="2069009"/>
            <a:ext cx="0" cy="45720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94771" y="218330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37671" y="2204293"/>
            <a:ext cx="140616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vocabulary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42371" y="2640509"/>
            <a:ext cx="3908971" cy="457200"/>
          </a:xfrm>
          <a:prstGeom prst="roundRect">
            <a:avLst>
              <a:gd name="adj" fmla="val 8333"/>
            </a:avLst>
          </a:prstGeom>
          <a:solidFill>
            <a:srgbClr val="E91E63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461421" y="2640509"/>
            <a:ext cx="0" cy="457200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594771" y="275480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E91E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7671" y="2775793"/>
            <a:ext cx="22125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descriptions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details</a:t>
            </a:r>
            <a:endParaRPr lang="en-US" sz="10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68f2e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1630"/>
            <a:ext cx="3591074" cy="9600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06387" y="2091630"/>
            <a:ext cx="77815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576251" y="1358292"/>
            <a:ext cx="2296298" cy="452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TEXT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87223" y="1699783"/>
            <a:ext cx="2708366" cy="9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40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576251" y="2376519"/>
            <a:ext cx="2296298" cy="58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</a:t>
            </a:r>
            <a:b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Foodie Visit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93258" y="3031749"/>
            <a:ext cx="2296297" cy="107956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Opening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533400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the scene with personal connection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90500" y="1997273"/>
            <a:ext cx="4954339" cy="2324356"/>
          </a:xfrm>
          <a:prstGeom prst="roundRect">
            <a:avLst>
              <a:gd name="adj" fmla="val 379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1000" y="2187773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576364"/>
            <a:ext cx="466480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Dear Marianna,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085951"/>
            <a:ext cx="4664806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spcBef>
                <a:spcPts val="9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texted me and told me you're arriving in Vienna tomorrow, so I wanted to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 restaurant </a:t>
            </a:r>
            <a:r>
              <a:rPr lang="en-US" sz="1400" b="1" i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you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I know how you love food. I will also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 for you,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you don't have to eat take out.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843236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843236"/>
            <a:ext cx="0" cy="638026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976586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595563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595563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72891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3439" y="3347889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6789" y="3481239"/>
            <a:ext cx="33796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TOUCH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599"/>
            <a:ext cx="5963194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Cuisine + Homemade Meal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7177" y="972294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bullet points covered in one natural paragraph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102048"/>
            <a:ext cx="4954339" cy="206915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292548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681139"/>
            <a:ext cx="466480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favourite cuisine is Japanese cuisine,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I've learnt how to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sushi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I'm sure you'll like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 usually make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salmon and some cucumbers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you hate cucumbers, I'll replace them with some cream cheese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530846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530846"/>
            <a:ext cx="0" cy="63802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664196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CUISINE 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73439" y="2264122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264122"/>
            <a:ext cx="0" cy="638026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397472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MEAL DETAILS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3439" y="2997398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92489" y="2997398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44889" y="3130748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6335486" cy="293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Restaurant Introduction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28600" y="1003663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the detailed description</a:t>
            </a:r>
            <a:endParaRPr lang="en-US" b="1" dirty="0"/>
          </a:p>
        </p:txBody>
      </p:sp>
      <p:sp>
        <p:nvSpPr>
          <p:cNvPr id="4" name="Text 2"/>
          <p:cNvSpPr/>
          <p:nvPr/>
        </p:nvSpPr>
        <p:spPr>
          <a:xfrm>
            <a:off x="190500" y="2230636"/>
            <a:ext cx="4954339" cy="1797100"/>
          </a:xfrm>
          <a:prstGeom prst="roundRect">
            <a:avLst>
              <a:gd name="adj" fmla="val 494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421136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809726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told me you </a:t>
            </a:r>
            <a:r>
              <a:rPr lang="en-US" sz="14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visit a nice restaurant, so I found one. It's called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it's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near the city center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It's a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and cozy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restaurant. My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favourite dish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there is their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truffle pasta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73439" y="1540371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92489" y="1540371"/>
            <a:ext cx="0" cy="81126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544889" y="1673721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73439" y="2446883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392489" y="2446883"/>
            <a:ext cx="0" cy="638026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44889" y="2580233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3439" y="3180159"/>
            <a:ext cx="3580061" cy="638026"/>
          </a:xfrm>
          <a:prstGeom prst="roundRect">
            <a:avLst>
              <a:gd name="adj" fmla="val 1194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92489" y="3180159"/>
            <a:ext cx="0" cy="638026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44889" y="3313509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5867400" cy="452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238316" y="988318"/>
            <a:ext cx="8860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24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Vivid, sensory details</a:t>
            </a:r>
            <a:endParaRPr lang="en-US" sz="2400" b="1" dirty="0"/>
          </a:p>
        </p:txBody>
      </p:sp>
      <p:sp>
        <p:nvSpPr>
          <p:cNvPr id="4" name="Text 2"/>
          <p:cNvSpPr/>
          <p:nvPr/>
        </p:nvSpPr>
        <p:spPr>
          <a:xfrm>
            <a:off x="190500" y="2077788"/>
            <a:ext cx="4718000" cy="2077393"/>
          </a:xfrm>
          <a:prstGeom prst="roundRect">
            <a:avLst>
              <a:gd name="adj" fmla="val 4169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230189"/>
            <a:ext cx="4501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42900" y="2586335"/>
            <a:ext cx="4501464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38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of flavour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hot and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definitely worth watching. The waiter brings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boiled pasta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to your table and throws it into a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parmesan wheel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 adds a tiny bit of alcohol and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blue fire starts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He mixes it with the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melting cheese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in front of you and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truffles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top of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99000" y="1521321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18050" y="1521321"/>
            <a:ext cx="0" cy="723751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251400" y="1635621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DETAILS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99000" y="2321272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118050" y="2321272"/>
            <a:ext cx="0" cy="72375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51400" y="2435572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VOCABULARY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099000" y="3121223"/>
            <a:ext cx="3854500" cy="723751"/>
          </a:xfrm>
          <a:prstGeom prst="roundRect">
            <a:avLst>
              <a:gd name="adj" fmla="val 10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118050" y="3121223"/>
            <a:ext cx="0" cy="723751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51400" y="3235523"/>
            <a:ext cx="3659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DETAIL ✓✓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A: Strong Finish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90500" y="1821061"/>
            <a:ext cx="4954339" cy="2842765"/>
          </a:xfrm>
          <a:prstGeom prst="roundRect">
            <a:avLst>
              <a:gd name="adj" fmla="val 3228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2011561"/>
            <a:ext cx="46648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400151"/>
            <a:ext cx="4664806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flavour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incredible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</a:t>
            </a: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tenderness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pasta and the flavour of the truffles will </a:t>
            </a:r>
            <a:r>
              <a:rPr lang="en-US" sz="14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taste buds go crazy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It's also really </a:t>
            </a: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and not fattening at all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I'm definitely taking you to that place!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1000" y="3572322"/>
            <a:ext cx="46648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regards,</a:t>
            </a:r>
            <a:endParaRPr lang="en-US" sz="1400" dirty="0"/>
          </a:p>
          <a:p>
            <a:pPr marL="0" indent="0" algn="l">
              <a:lnSpc>
                <a:spcPts val="2025"/>
              </a:lnSpc>
              <a:spcBef>
                <a:spcPts val="1200"/>
              </a:spcBef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73439" y="1338560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92489" y="1338560"/>
            <a:ext cx="0" cy="811262"/>
          </a:xfrm>
          <a:prstGeom prst="line">
            <a:avLst/>
          </a:prstGeom>
          <a:noFill/>
          <a:ln w="381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544889" y="1471910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 EXPRESSION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73439" y="2245072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92489" y="2245072"/>
            <a:ext cx="0" cy="811262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544889" y="2378422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73439" y="3151584"/>
            <a:ext cx="3580061" cy="811262"/>
          </a:xfrm>
          <a:prstGeom prst="roundRect">
            <a:avLst>
              <a:gd name="adj" fmla="val 9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392489" y="3151584"/>
            <a:ext cx="0" cy="811262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544889" y="3284934"/>
            <a:ext cx="33407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INFO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Macintosh PowerPoint</Application>
  <PresentationFormat>Bildschirmpräsentation (16:9)</PresentationFormat>
  <Paragraphs>59</Paragraphs>
  <Slides>10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ADLaM Display</vt:lpstr>
      <vt:lpstr>Arial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Texts: Two Paths to Full Points</dc:title>
  <dc:subject>Writing Task Analysis</dc:subject>
  <dc:creator>EFL Teacher</dc:creator>
  <cp:lastModifiedBy>Orhan Vehabovic</cp:lastModifiedBy>
  <cp:revision>47</cp:revision>
  <dcterms:created xsi:type="dcterms:W3CDTF">2026-01-16T09:15:00Z</dcterms:created>
  <dcterms:modified xsi:type="dcterms:W3CDTF">2026-01-31T15:17:05Z</dcterms:modified>
</cp:coreProperties>
</file>